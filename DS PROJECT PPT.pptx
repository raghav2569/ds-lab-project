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CC99"/>
    <a:srgbClr val="000099"/>
    <a:srgbClr val="FF7C80"/>
    <a:srgbClr val="996633"/>
    <a:srgbClr val="00FFCC"/>
    <a:srgbClr val="FF66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autoAdjust="0"/>
    <p:restoredTop sz="94660"/>
  </p:normalViewPr>
  <p:slideViewPr>
    <p:cSldViewPr snapToGrid="0">
      <p:cViewPr varScale="1">
        <p:scale>
          <a:sx n="82" d="100"/>
          <a:sy n="82" d="100"/>
        </p:scale>
        <p:origin x="691"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13FEEA-7EF8-4B4F-B647-AD5DE229E75B}" type="datetimeFigureOut">
              <a:rPr lang="en-IN" smtClean="0"/>
              <a:t>31-10-2025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19EBBD-D052-4B1B-97A1-FED2D203AD11}" type="slidenum">
              <a:rPr lang="en-IN" smtClean="0"/>
              <a:t>‹#›</a:t>
            </a:fld>
            <a:endParaRPr lang="en-IN"/>
          </a:p>
        </p:txBody>
      </p:sp>
    </p:spTree>
    <p:extLst>
      <p:ext uri="{BB962C8B-B14F-4D97-AF65-F5344CB8AC3E}">
        <p14:creationId xmlns:p14="http://schemas.microsoft.com/office/powerpoint/2010/main" val="400250551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21C35-106D-45D2-98A3-D27A656E76DB}"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554F3-B0BD-42B2-A7DD-86BA5FCB815B}" type="slidenum">
              <a:rPr lang="en-IN" smtClean="0"/>
              <a:t>‹#›</a:t>
            </a:fld>
            <a:endParaRPr lang="en-IN"/>
          </a:p>
        </p:txBody>
      </p:sp>
    </p:spTree>
    <p:extLst>
      <p:ext uri="{BB962C8B-B14F-4D97-AF65-F5344CB8AC3E}">
        <p14:creationId xmlns:p14="http://schemas.microsoft.com/office/powerpoint/2010/main" val="284683174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D713962-4865-4228-81E3-00D3CFBC0BFA}"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8300" y="6445250"/>
            <a:ext cx="2743200" cy="365125"/>
          </a:xfrm>
        </p:spPr>
        <p:txBody>
          <a:bodyPr/>
          <a:lstStyle/>
          <a:p>
            <a:fld id="{38A635C9-4A98-4745-BD96-9D0E32025E69}" type="slidenum">
              <a:rPr lang="en-IN" smtClean="0"/>
              <a:t>‹#›</a:t>
            </a:fld>
            <a:endParaRPr lang="en-IN" dirty="0"/>
          </a:p>
        </p:txBody>
      </p:sp>
    </p:spTree>
    <p:extLst>
      <p:ext uri="{BB962C8B-B14F-4D97-AF65-F5344CB8AC3E}">
        <p14:creationId xmlns:p14="http://schemas.microsoft.com/office/powerpoint/2010/main" val="244172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159816-9E0E-4378-B675-9EC54FD6E1EE}"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333273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6F0435-5393-459B-B8D1-48E7839C38C5}"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649543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52D6B79-AEBC-4F2D-871B-4F95F7AD7A80}"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410643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B2545F7-ABF2-4D18-ACD2-7BD0A8EF4B83}" type="datetime1">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414335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7FE66FB-CD15-47C6-89EF-F7FE10D1EED8}" type="datetime1">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492890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6808B-F1D3-4175-85AD-E8FCCDE72517}" type="datetime1">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85576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B3C0D1-6746-44E2-8941-ACBF328B313B}"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87909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19EB3B-693B-49EE-AD0C-7C04F31CDB5B}" type="datetime1">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205872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C6663D-5144-4E9D-ACC1-AE116A0B35F1}"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69819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C72366-8802-4337-B04F-63ED80D84AF4}" type="datetime1">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29998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04D1D-AFCB-4734-808E-3BDFE7C445A8}" type="datetime1">
              <a:rPr lang="en-IN" smtClean="0"/>
              <a:t>31-10-2025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9258300" y="6492875"/>
            <a:ext cx="2743200" cy="365125"/>
          </a:xfrm>
          <a:prstGeom prst="rect">
            <a:avLst/>
          </a:prstGeom>
        </p:spPr>
        <p:txBody>
          <a:bodyPr vert="horz" lIns="91440" tIns="45720" rIns="91440" bIns="45720" rtlCol="0" anchor="ctr"/>
          <a:lstStyle>
            <a:lvl1pPr algn="r">
              <a:defRPr sz="1200" b="1">
                <a:solidFill>
                  <a:schemeClr val="bg1"/>
                </a:solidFill>
              </a:defRPr>
            </a:lvl1pPr>
          </a:lstStyle>
          <a:p>
            <a:fld id="{38A635C9-4A98-4745-BD96-9D0E32025E69}" type="slidenum">
              <a:rPr lang="en-IN" smtClean="0"/>
              <a:pPr/>
              <a:t>‹#›</a:t>
            </a:fld>
            <a:endParaRPr lang="en-IN" dirty="0"/>
          </a:p>
        </p:txBody>
      </p:sp>
    </p:spTree>
    <p:extLst>
      <p:ext uri="{BB962C8B-B14F-4D97-AF65-F5344CB8AC3E}">
        <p14:creationId xmlns:p14="http://schemas.microsoft.com/office/powerpoint/2010/main" val="59776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8B3B0A-D291-4B7B-AB48-0197BCAFFEFD}"/>
              </a:ext>
            </a:extLst>
          </p:cNvPr>
          <p:cNvSpPr txBox="1"/>
          <p:nvPr/>
        </p:nvSpPr>
        <p:spPr>
          <a:xfrm>
            <a:off x="4232" y="2966411"/>
            <a:ext cx="12192000" cy="707886"/>
          </a:xfrm>
          <a:prstGeom prst="rect">
            <a:avLst/>
          </a:prstGeom>
          <a:solidFill>
            <a:srgbClr val="C00000"/>
          </a:solidFill>
          <a:effectLst>
            <a:outerShdw blurRad="50800" dist="38100" dir="2700000" algn="tl" rotWithShape="0">
              <a:prstClr val="black">
                <a:alpha val="40000"/>
              </a:prstClr>
            </a:outerShdw>
          </a:effectLst>
        </p:spPr>
        <p:txBody>
          <a:bodyPr wrap="square" rtlCol="0" anchor="ctr">
            <a:spAutoFit/>
          </a:bodyPr>
          <a:lstStyle/>
          <a:p>
            <a:pPr algn="ctr"/>
            <a:endParaRPr lang="ko-KR" altLang="en-US" sz="4000" dirty="0">
              <a:solidFill>
                <a:schemeClr val="bg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CF8B3B0A-D291-4B7B-AB48-0197BCAFFEFD}"/>
              </a:ext>
            </a:extLst>
          </p:cNvPr>
          <p:cNvSpPr txBox="1"/>
          <p:nvPr/>
        </p:nvSpPr>
        <p:spPr>
          <a:xfrm>
            <a:off x="2798516" y="5774290"/>
            <a:ext cx="6579821" cy="369332"/>
          </a:xfrm>
          <a:prstGeom prst="rect">
            <a:avLst/>
          </a:prstGeom>
          <a:noFill/>
        </p:spPr>
        <p:txBody>
          <a:bodyPr wrap="square" rtlCol="0" anchor="ctr">
            <a:spAutoFit/>
          </a:bodyPr>
          <a:lstStyle/>
          <a:p>
            <a:pPr algn="ctr"/>
            <a:r>
              <a:rPr lang="en-US" altLang="ko-KR" b="1" dirty="0">
                <a:solidFill>
                  <a:srgbClr val="FF0000"/>
                </a:solidFill>
                <a:latin typeface="Times New Roman" pitchFamily="18" charset="0"/>
                <a:cs typeface="Times New Roman" pitchFamily="18" charset="0"/>
              </a:rPr>
              <a:t>Symbiosis Institute of Technology, Nagpur Campus</a:t>
            </a:r>
            <a:endParaRPr lang="ko-KR" altLang="en-US" b="1" dirty="0">
              <a:solidFill>
                <a:srgbClr val="FF0000"/>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CF8B3B0A-D291-4B7B-AB48-0197BCAFFEFD}"/>
              </a:ext>
            </a:extLst>
          </p:cNvPr>
          <p:cNvSpPr txBox="1"/>
          <p:nvPr/>
        </p:nvSpPr>
        <p:spPr>
          <a:xfrm>
            <a:off x="4070479" y="1277238"/>
            <a:ext cx="4077479" cy="1631216"/>
          </a:xfrm>
          <a:prstGeom prst="rect">
            <a:avLst/>
          </a:prstGeom>
          <a:noFill/>
        </p:spPr>
        <p:txBody>
          <a:bodyPr wrap="square" rtlCol="0" anchor="ctr">
            <a:spAutoFit/>
          </a:bodyPr>
          <a:lstStyle/>
          <a:p>
            <a:pPr algn="ctr"/>
            <a:r>
              <a:rPr lang="en-US" altLang="ko-KR" sz="4000" dirty="0">
                <a:solidFill>
                  <a:srgbClr val="000099"/>
                </a:solidFill>
                <a:latin typeface="Times New Roman" pitchFamily="18" charset="0"/>
                <a:cs typeface="Times New Roman" pitchFamily="18" charset="0"/>
              </a:rPr>
              <a:t>DATA SCIENCE </a:t>
            </a:r>
          </a:p>
          <a:p>
            <a:pPr algn="ctr"/>
            <a:r>
              <a:rPr lang="en-US" altLang="ko-KR" sz="4000" dirty="0">
                <a:solidFill>
                  <a:srgbClr val="000099"/>
                </a:solidFill>
                <a:latin typeface="Times New Roman" pitchFamily="18" charset="0"/>
                <a:cs typeface="Times New Roman" pitchFamily="18" charset="0"/>
              </a:rPr>
              <a:t>Mini Project</a:t>
            </a:r>
            <a:r>
              <a:rPr lang="en-US" altLang="ko-KR" sz="6000" dirty="0">
                <a:solidFill>
                  <a:srgbClr val="000099"/>
                </a:solidFill>
                <a:latin typeface="Times New Roman" pitchFamily="18" charset="0"/>
                <a:cs typeface="Times New Roman" pitchFamily="18" charset="0"/>
              </a:rPr>
              <a:t> </a:t>
            </a:r>
          </a:p>
        </p:txBody>
      </p:sp>
      <p:sp>
        <p:nvSpPr>
          <p:cNvPr id="43" name="TextBox 42">
            <a:extLst>
              <a:ext uri="{FF2B5EF4-FFF2-40B4-BE49-F238E27FC236}">
                <a16:creationId xmlns:a16="http://schemas.microsoft.com/office/drawing/2014/main" id="{CF8B3B0A-D291-4B7B-AB48-0197BCAFFEFD}"/>
              </a:ext>
            </a:extLst>
          </p:cNvPr>
          <p:cNvSpPr txBox="1"/>
          <p:nvPr/>
        </p:nvSpPr>
        <p:spPr>
          <a:xfrm>
            <a:off x="2914170" y="3714695"/>
            <a:ext cx="6390099" cy="1877437"/>
          </a:xfrm>
          <a:prstGeom prst="rect">
            <a:avLst/>
          </a:prstGeom>
          <a:noFill/>
        </p:spPr>
        <p:txBody>
          <a:bodyPr wrap="square" rtlCol="0" anchor="ctr">
            <a:spAutoFit/>
          </a:bodyPr>
          <a:lstStyle/>
          <a:p>
            <a:pPr algn="ctr"/>
            <a:r>
              <a:rPr lang="en-US" altLang="ko-KR" sz="2400" b="1" dirty="0">
                <a:solidFill>
                  <a:srgbClr val="000099"/>
                </a:solidFill>
                <a:latin typeface="Times New Roman" pitchFamily="18" charset="0"/>
                <a:cs typeface="Times New Roman" pitchFamily="18" charset="0"/>
              </a:rPr>
              <a:t>Raghav Uparkar</a:t>
            </a:r>
          </a:p>
          <a:p>
            <a:pPr algn="ctr"/>
            <a:r>
              <a:rPr lang="en-US" altLang="ko-KR" sz="2400" dirty="0">
                <a:solidFill>
                  <a:srgbClr val="000099"/>
                </a:solidFill>
                <a:latin typeface="Times New Roman" pitchFamily="18" charset="0"/>
                <a:cs typeface="Times New Roman" pitchFamily="18" charset="0"/>
              </a:rPr>
              <a:t>22070521045</a:t>
            </a:r>
          </a:p>
          <a:p>
            <a:pPr algn="ctr"/>
            <a:r>
              <a:rPr lang="en-US" altLang="ko-KR" sz="2400" dirty="0">
                <a:solidFill>
                  <a:srgbClr val="000099"/>
                </a:solidFill>
                <a:latin typeface="Times New Roman" pitchFamily="18" charset="0"/>
                <a:cs typeface="Times New Roman" pitchFamily="18" charset="0"/>
              </a:rPr>
              <a:t>Sem: 7 Sec: A</a:t>
            </a:r>
          </a:p>
          <a:p>
            <a:pPr algn="ctr"/>
            <a:r>
              <a:rPr lang="en-US" altLang="ko-KR" sz="2000" dirty="0">
                <a:solidFill>
                  <a:srgbClr val="000099"/>
                </a:solidFill>
                <a:latin typeface="Times New Roman" pitchFamily="18" charset="0"/>
                <a:cs typeface="Times New Roman" pitchFamily="18" charset="0"/>
              </a:rPr>
              <a:t>Under the guidance of</a:t>
            </a:r>
          </a:p>
          <a:p>
            <a:pPr algn="ctr"/>
            <a:r>
              <a:rPr lang="en-US" altLang="ko-KR" sz="2400" dirty="0">
                <a:solidFill>
                  <a:srgbClr val="000099"/>
                </a:solidFill>
                <a:latin typeface="Times New Roman" pitchFamily="18" charset="0"/>
                <a:cs typeface="Times New Roman" pitchFamily="18" charset="0"/>
              </a:rPr>
              <a:t> </a:t>
            </a:r>
            <a:r>
              <a:rPr lang="en-US" altLang="ko-KR" sz="2400" b="1" dirty="0">
                <a:solidFill>
                  <a:srgbClr val="000099"/>
                </a:solidFill>
                <a:latin typeface="Times New Roman" pitchFamily="18" charset="0"/>
                <a:cs typeface="Times New Roman" pitchFamily="18" charset="0"/>
              </a:rPr>
              <a:t>Dr. Piyush Chauhan </a:t>
            </a:r>
          </a:p>
        </p:txBody>
      </p:sp>
      <p:grpSp>
        <p:nvGrpSpPr>
          <p:cNvPr id="85" name="Group 84"/>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F5B2E5E-F1FB-4B49-A15E-DFC13B08436B}"/>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65E93E9-4624-4300-9736-8AD2206DEEDC}"/>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95" name="Group 194">
            <a:extLst>
              <a:ext uri="{FF2B5EF4-FFF2-40B4-BE49-F238E27FC236}">
                <a16:creationId xmlns:a16="http://schemas.microsoft.com/office/drawing/2014/main" id="{565E93E9-4624-4300-9736-8AD2206DEEDC}"/>
              </a:ext>
            </a:extLst>
          </p:cNvPr>
          <p:cNvGrpSpPr/>
          <p:nvPr/>
        </p:nvGrpSpPr>
        <p:grpSpPr>
          <a:xfrm>
            <a:off x="450920" y="6490548"/>
            <a:ext cx="4247655" cy="273466"/>
            <a:chOff x="4366684" y="2926127"/>
            <a:chExt cx="3278335" cy="2571063"/>
          </a:xfrm>
        </p:grpSpPr>
        <p:sp>
          <p:nvSpPr>
            <p:cNvPr id="196"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7"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8"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9"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0"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1"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2"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3"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4"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5"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6"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7"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8"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9"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0"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1"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2"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3"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4"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5"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6"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7"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8"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9"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0"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1"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2"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3"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4"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5"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6"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7"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8"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9"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30"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521" y="190223"/>
            <a:ext cx="6879350" cy="999746"/>
          </a:xfrm>
          <a:prstGeom prst="rect">
            <a:avLst/>
          </a:prstGeom>
        </p:spPr>
      </p:pic>
      <p:grpSp>
        <p:nvGrpSpPr>
          <p:cNvPr id="7" name="Group 6"/>
          <p:cNvGrpSpPr/>
          <p:nvPr/>
        </p:nvGrpSpPr>
        <p:grpSpPr>
          <a:xfrm>
            <a:off x="4815395" y="6382131"/>
            <a:ext cx="7369479" cy="465286"/>
            <a:chOff x="4817758" y="6382984"/>
            <a:chExt cx="7369479" cy="465286"/>
          </a:xfrm>
        </p:grpSpPr>
        <p:sp>
          <p:nvSpPr>
            <p:cNvPr id="3" name="Rectangle 2"/>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sp>
        <p:nvSpPr>
          <p:cNvPr id="10" name="Slide Number Placeholder 9"/>
          <p:cNvSpPr>
            <a:spLocks noGrp="1"/>
          </p:cNvSpPr>
          <p:nvPr>
            <p:ph type="sldNum" sz="quarter" idx="12"/>
          </p:nvPr>
        </p:nvSpPr>
        <p:spPr/>
        <p:txBody>
          <a:bodyPr/>
          <a:lstStyle/>
          <a:p>
            <a:fld id="{38A635C9-4A98-4745-BD96-9D0E32025E69}" type="slidenum">
              <a:rPr lang="en-IN" smtClean="0"/>
              <a:t>1</a:t>
            </a:fld>
            <a:endParaRPr lang="en-IN"/>
          </a:p>
        </p:txBody>
      </p:sp>
      <p:sp>
        <p:nvSpPr>
          <p:cNvPr id="11" name="TextBox 10">
            <a:extLst>
              <a:ext uri="{FF2B5EF4-FFF2-40B4-BE49-F238E27FC236}">
                <a16:creationId xmlns:a16="http://schemas.microsoft.com/office/drawing/2014/main" id="{4626C5E8-7B3F-3811-7520-B471229D57C1}"/>
              </a:ext>
            </a:extLst>
          </p:cNvPr>
          <p:cNvSpPr txBox="1"/>
          <p:nvPr/>
        </p:nvSpPr>
        <p:spPr>
          <a:xfrm>
            <a:off x="2287216" y="3071961"/>
            <a:ext cx="7644006" cy="523220"/>
          </a:xfrm>
          <a:prstGeom prst="rect">
            <a:avLst/>
          </a:prstGeom>
          <a:noFill/>
        </p:spPr>
        <p:txBody>
          <a:bodyPr wrap="square">
            <a:spAutoFit/>
          </a:bodyPr>
          <a:lstStyle/>
          <a:p>
            <a:pPr algn="ctr"/>
            <a:r>
              <a:rPr lang="en-US" sz="2800" dirty="0">
                <a:solidFill>
                  <a:schemeClr val="bg1">
                    <a:lumMod val="95000"/>
                  </a:schemeClr>
                </a:solidFill>
                <a:latin typeface="Times New Roman" panose="02020603050405020304" pitchFamily="18" charset="0"/>
                <a:cs typeface="Times New Roman" panose="02020603050405020304" pitchFamily="18" charset="0"/>
              </a:rPr>
              <a:t>Topic : Data Analysis on Indian Tourism Dataset</a:t>
            </a:r>
            <a:endParaRPr lang="ko-KR" altLang="en-US" sz="2800" b="1" dirty="0">
              <a:solidFill>
                <a:schemeClr val="bg1">
                  <a:lumMod val="95000"/>
                </a:schemeClr>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21747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F5B2E5E-F1FB-4B49-A15E-DFC13B08436B}"/>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65E93E9-4624-4300-9736-8AD2206DEEDC}"/>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565E93E9-4624-4300-9736-8AD2206DEED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p:cNvSpPr/>
          <p:nvPr/>
        </p:nvSpPr>
        <p:spPr>
          <a:xfrm>
            <a:off x="3990631" y="120847"/>
            <a:ext cx="4160981"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b="1" dirty="0">
                <a:solidFill>
                  <a:srgbClr val="002060"/>
                </a:solidFill>
                <a:latin typeface="Times New Roman" panose="02020603050405020304" pitchFamily="18" charset="0"/>
                <a:ea typeface="Aptos" panose="020B0004020202020204" pitchFamily="34" charset="0"/>
              </a:rPr>
              <a:t>P</a:t>
            </a:r>
            <a:r>
              <a:rPr lang="en-IN" sz="3200" b="1" dirty="0">
                <a:solidFill>
                  <a:srgbClr val="002060"/>
                </a:solidFill>
                <a:effectLst/>
                <a:latin typeface="Times New Roman" panose="02020603050405020304" pitchFamily="18" charset="0"/>
                <a:ea typeface="Aptos" panose="020B0004020202020204" pitchFamily="34" charset="0"/>
              </a:rPr>
              <a:t>roblem </a:t>
            </a:r>
            <a:r>
              <a:rPr lang="en-IN" sz="3200" b="1" dirty="0">
                <a:solidFill>
                  <a:srgbClr val="002060"/>
                </a:solidFill>
                <a:latin typeface="Times New Roman" panose="02020603050405020304" pitchFamily="18" charset="0"/>
                <a:ea typeface="Aptos" panose="020B0004020202020204" pitchFamily="34" charset="0"/>
              </a:rPr>
              <a:t>S</a:t>
            </a:r>
            <a:r>
              <a:rPr lang="en-IN" sz="3200" b="1" dirty="0">
                <a:solidFill>
                  <a:srgbClr val="002060"/>
                </a:solidFill>
                <a:effectLst/>
                <a:latin typeface="Times New Roman" panose="02020603050405020304" pitchFamily="18" charset="0"/>
                <a:ea typeface="Aptos" panose="020B0004020202020204" pitchFamily="34" charset="0"/>
              </a:rPr>
              <a:t>tatement</a:t>
            </a:r>
            <a:endParaRPr lang="en-US" sz="3200" dirty="0">
              <a:solidFill>
                <a:srgbClr val="002060"/>
              </a:solidFill>
              <a:latin typeface="Arial" panose="020B0604020202020204" pitchFamily="34" charset="0"/>
              <a:cs typeface="Arial" panose="020B0604020202020204" pitchFamily="34" charset="0"/>
            </a:endParaRPr>
          </a:p>
        </p:txBody>
      </p:sp>
      <p:sp>
        <p:nvSpPr>
          <p:cNvPr id="358" name="Rectangle 357"/>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p:cNvSpPr>
            <a:spLocks noGrp="1"/>
          </p:cNvSpPr>
          <p:nvPr>
            <p:ph type="sldNum" sz="quarter" idx="12"/>
          </p:nvPr>
        </p:nvSpPr>
        <p:spPr/>
        <p:txBody>
          <a:bodyPr/>
          <a:lstStyle/>
          <a:p>
            <a:fld id="{38A635C9-4A98-4745-BD96-9D0E32025E69}" type="slidenum">
              <a:rPr lang="en-IN" smtClean="0"/>
              <a:t>2</a:t>
            </a:fld>
            <a:endParaRPr lang="en-IN" dirty="0"/>
          </a:p>
        </p:txBody>
      </p:sp>
      <p:sp>
        <p:nvSpPr>
          <p:cNvPr id="6" name="TextBox 5">
            <a:extLst>
              <a:ext uri="{FF2B5EF4-FFF2-40B4-BE49-F238E27FC236}">
                <a16:creationId xmlns:a16="http://schemas.microsoft.com/office/drawing/2014/main" id="{61ACFCC7-E90D-0B9F-BD83-9A356FD37A02}"/>
              </a:ext>
            </a:extLst>
          </p:cNvPr>
          <p:cNvSpPr txBox="1"/>
          <p:nvPr/>
        </p:nvSpPr>
        <p:spPr>
          <a:xfrm>
            <a:off x="701089" y="1056955"/>
            <a:ext cx="10577750" cy="313932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Tourism in India is one of the major contributors to economic growth, employment, and cultural exchange. However, analyzing tourism performance across states is challenging due to regional differences in infrastructure, connectivity, and visitor preferences.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Problem Statement:</a:t>
            </a:r>
          </a:p>
          <a:p>
            <a:r>
              <a:rPr lang="en-US" sz="2000" dirty="0">
                <a:latin typeface="Times New Roman" panose="02020603050405020304" pitchFamily="18" charset="0"/>
                <a:cs typeface="Times New Roman" panose="02020603050405020304" pitchFamily="18" charset="0"/>
              </a:rPr>
              <a:t> To perform a state-wise and category-wise exploratory data analysis (EDA) on the Indian Tourism dataset, with the objective of understanding how tourist arrivals and revenue are distributed geographically. This analysis will help in identifying regional disparities, growth trends, and performance outliers, enabling data-driven improvements in tourism planning and promotion.</a:t>
            </a:r>
          </a:p>
          <a:p>
            <a:endParaRPr lang="en-US"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948BAC4-35CE-683D-BB4E-A0B00DB8E49C}"/>
              </a:ext>
            </a:extLst>
          </p:cNvPr>
          <p:cNvSpPr txBox="1"/>
          <p:nvPr/>
        </p:nvSpPr>
        <p:spPr>
          <a:xfrm>
            <a:off x="743339" y="3998957"/>
            <a:ext cx="8011135" cy="224676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Objectives:</a:t>
            </a:r>
          </a:p>
          <a:p>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Analyze state-wise and year-wise tourist arrival trends.</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Compare domestic and foreign tourism contributions.</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Visualize tourism growth rates and detect regional disparities.</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Generate actionable insights for policy improvement and tourism development.</a:t>
            </a:r>
          </a:p>
        </p:txBody>
      </p:sp>
      <p:pic>
        <p:nvPicPr>
          <p:cNvPr id="1026" name="Picture 2" descr="World tourism day 3d rendering ...">
            <a:extLst>
              <a:ext uri="{FF2B5EF4-FFF2-40B4-BE49-F238E27FC236}">
                <a16:creationId xmlns:a16="http://schemas.microsoft.com/office/drawing/2014/main" id="{A0EE5E19-1A8B-F36E-2FB0-E7E89DF47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75" y="3955511"/>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38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DA6D-4655-5B45-7AAA-0F381BCD23DB}"/>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E96117D2-B260-5540-D355-26CAD0B2898F}"/>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1335BEDB-F0C6-55AF-17FB-7558E77FB8F5}"/>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7452C8C3-6EE9-914F-FC5F-8E93DC1E7C64}"/>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FAAE3D32-F698-0D28-7ACC-F90C9A051B1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93E47D11-5FC2-08E1-9AA1-0D4B40A3B1A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A7DEECA1-3448-84D0-88FE-9D0428B79D7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5221891A-A702-45FD-4220-EB2C507C2D3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2BB3B516-2F98-8567-70D4-87199EB0333D}"/>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9204216E-4FBD-D91F-9516-4C2DEDA01466}"/>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D365345E-9BE1-0964-7448-84BB10671AD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1DA1AC0A-CD0F-B9F9-8FB8-4C690E35E07C}"/>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2B230244-92EC-2840-FE2F-9907831B7F8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3FACF378-B61F-33D5-FC9B-FEC32199D8F6}"/>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5FB80CDD-1529-D48F-4728-8B123F516B7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4C0160F0-5330-1EC6-F442-D060370817E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3E9B0EB9-E246-69D4-C994-930C7F5F562D}"/>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476AD7BA-B160-5E9A-0B5B-659EE7AB30D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77FCF9F4-85EB-F196-6107-C05E29A81DF4}"/>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5F4D54DC-667A-3889-FD1D-45B1F0EA204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B11A32B7-44F5-B3D8-B383-8C1AA435977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ABEC5DE5-74A8-69DD-D916-8E3819AF73D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FF0270E0-A0B2-5CD4-F1AD-55ECA4E9B7E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B7E8236E-1D9F-92B3-E8B6-FEFC9F24DC4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AD88E011-8742-605F-1EB2-C3308F462D6A}"/>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EC9D97A2-172F-B8C6-4FB2-7C150B80E5E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C3CCC500-61EF-15C6-A965-263AF3B77545}"/>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E666AF84-F4CE-7E7D-EC8A-EC3B53D59E1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37E8EBF5-0FAD-003D-DE93-E402E268C67F}"/>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0D03479-CB61-5773-378C-C6F687C30089}"/>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2E918974-E589-1403-7A0B-D1935A45D76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FDAD34D-64C6-D4E2-304B-1DD56085B5BD}"/>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DBC11A0B-A8B3-7A94-CDF6-DD2677E240A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EEB8F762-280F-39C4-76EF-8E9978441FE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0745C6BA-7649-59BC-1C0D-7E672F7C354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FB57C9E7-4CEB-1CCA-C15B-CE1FE027937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2FFB3259-4C62-BA3C-70A4-BDB82D50260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B78BB234-613C-9C58-E130-C7E03D11ED85}"/>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72850F40-D974-CA74-3A4F-C5559E573657}"/>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9EF7924B-3705-3A31-1C2D-EEDDF03D75E0}"/>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3EF596BF-7306-5707-231E-E7E1A4BFDF8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18598100-4AE7-7C9A-52B6-BDE61476C47C}"/>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72ACF79C-34D1-F5C8-840C-FD2A11D73E2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5F3D792A-390F-3C52-1460-FD0D1F3BA61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5101D033-13FB-C13D-47D3-709CE5801577}"/>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8BD1FCE6-705B-9DA6-0203-CA618EAB2C1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AF6907C5-CF87-1F9F-034F-35D21C9927C4}"/>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DCE2DFAB-C5F4-F44F-342C-E41B3C9B8DD1}"/>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4F93C3C4-0388-9743-D71C-22A6097A8C46}"/>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0CC70F28-531D-4998-1D67-10C80D9C3D4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626D8935-5B67-2FEB-3B3B-679C7C26FC2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F942E0CB-DFC9-863B-BAF4-BDE7DEBC21D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B8D872C5-7841-3ED1-9040-02EC62CC893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18EB26C-D020-2BA2-EEC0-82ABD8FCBD06}"/>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A51EC80C-D34A-B14C-1EF6-BBBA64F8CCD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8EC0FFEF-B872-5CC5-8A97-185F1539E6C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D959DCC9-A42B-1586-48F9-07C6F1FEB5C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A843963B-93F9-3D52-349C-783EC5E94480}"/>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F43A6ACC-F390-77FA-6768-85C11F84391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5BA76D15-960E-36D6-43F7-4F389421B45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A410A9E5-0A48-283E-A99F-6052FDBB7793}"/>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6B4C4627-E5E9-116F-2608-A6F73D65D255}"/>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C3587146-1F01-AB97-79B6-DC10F0ABFCC8}"/>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0ACC6A82-22AE-BFB4-D7F7-9E8916FB4D1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6BC06E63-19CB-C729-2611-0AFE75E3A158}"/>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60E31959-047F-134B-FAC7-7435E91D3FEA}"/>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2395528C-4001-0A65-483E-A78F351E0B68}"/>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7D4F701C-680F-43EF-E46C-A52991E6C4A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F5075713-2156-F1FD-6214-7A52D29FDF6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9DC17C4F-C6DC-234E-F3A8-7033440F546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BAE721B7-2000-4F47-0F61-75500466572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980C2B94-7043-06E1-927E-7DBC64C7607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3C2EA10D-42CF-5439-5EEC-FBD718AC118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C8B9086D-3777-5253-BE8C-8CFC02B6E6E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8090C2BC-A80D-871C-1F3C-C464BE5C1BA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B0C795DB-0899-EC14-E3C7-90874B299BDC}"/>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A10C2842-E713-7761-F99D-FEAB4281244F}"/>
              </a:ext>
            </a:extLst>
          </p:cNvPr>
          <p:cNvSpPr/>
          <p:nvPr/>
        </p:nvSpPr>
        <p:spPr>
          <a:xfrm>
            <a:off x="3990631" y="120847"/>
            <a:ext cx="4160981"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b="1" dirty="0">
                <a:solidFill>
                  <a:srgbClr val="002060"/>
                </a:solidFill>
                <a:latin typeface="Times New Roman" panose="02020603050405020304" pitchFamily="18" charset="0"/>
                <a:cs typeface="Times New Roman" panose="02020603050405020304" pitchFamily="18" charset="0"/>
              </a:rPr>
              <a:t>Dataset Information</a:t>
            </a:r>
          </a:p>
        </p:txBody>
      </p:sp>
      <p:sp>
        <p:nvSpPr>
          <p:cNvPr id="358" name="Rectangle 357">
            <a:extLst>
              <a:ext uri="{FF2B5EF4-FFF2-40B4-BE49-F238E27FC236}">
                <a16:creationId xmlns:a16="http://schemas.microsoft.com/office/drawing/2014/main" id="{33815EB6-69C4-9D64-A96C-FBA737714B11}"/>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60EE7FA-9A02-0D19-9654-52C6BF1770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F5EB5D49-0236-FCA2-B760-031531DFAA98}"/>
              </a:ext>
            </a:extLst>
          </p:cNvPr>
          <p:cNvSpPr>
            <a:spLocks noGrp="1"/>
          </p:cNvSpPr>
          <p:nvPr>
            <p:ph type="sldNum" sz="quarter" idx="12"/>
          </p:nvPr>
        </p:nvSpPr>
        <p:spPr/>
        <p:txBody>
          <a:bodyPr/>
          <a:lstStyle/>
          <a:p>
            <a:fld id="{38A635C9-4A98-4745-BD96-9D0E32025E69}" type="slidenum">
              <a:rPr lang="en-IN" smtClean="0"/>
              <a:t>3</a:t>
            </a:fld>
            <a:endParaRPr lang="en-IN" dirty="0"/>
          </a:p>
        </p:txBody>
      </p:sp>
      <p:graphicFrame>
        <p:nvGraphicFramePr>
          <p:cNvPr id="10" name="Table 9">
            <a:extLst>
              <a:ext uri="{FF2B5EF4-FFF2-40B4-BE49-F238E27FC236}">
                <a16:creationId xmlns:a16="http://schemas.microsoft.com/office/drawing/2014/main" id="{E5EDEAD7-8AB7-29D4-E7A1-8EF0D8F6D1A7}"/>
              </a:ext>
            </a:extLst>
          </p:cNvPr>
          <p:cNvGraphicFramePr>
            <a:graphicFrameLocks noGrp="1"/>
          </p:cNvGraphicFramePr>
          <p:nvPr>
            <p:extLst>
              <p:ext uri="{D42A27DB-BD31-4B8C-83A1-F6EECF244321}">
                <p14:modId xmlns:p14="http://schemas.microsoft.com/office/powerpoint/2010/main" val="771757949"/>
              </p:ext>
            </p:extLst>
          </p:nvPr>
        </p:nvGraphicFramePr>
        <p:xfrm>
          <a:off x="3082153" y="3580112"/>
          <a:ext cx="6467458" cy="2651760"/>
        </p:xfrm>
        <a:graphic>
          <a:graphicData uri="http://schemas.openxmlformats.org/drawingml/2006/table">
            <a:tbl>
              <a:tblPr firstRow="1" bandRow="1">
                <a:tableStyleId>{5C22544A-7EE6-4342-B048-85BDC9FD1C3A}</a:tableStyleId>
              </a:tblPr>
              <a:tblGrid>
                <a:gridCol w="3233729">
                  <a:extLst>
                    <a:ext uri="{9D8B030D-6E8A-4147-A177-3AD203B41FA5}">
                      <a16:colId xmlns:a16="http://schemas.microsoft.com/office/drawing/2014/main" val="1955858669"/>
                    </a:ext>
                  </a:extLst>
                </a:gridCol>
                <a:gridCol w="3233729">
                  <a:extLst>
                    <a:ext uri="{9D8B030D-6E8A-4147-A177-3AD203B41FA5}">
                      <a16:colId xmlns:a16="http://schemas.microsoft.com/office/drawing/2014/main" val="3786617048"/>
                    </a:ext>
                  </a:extLst>
                </a:gridCol>
              </a:tblGrid>
              <a:tr h="507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mj-lt"/>
                        </a:rPr>
                        <a:t>Attribute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mj-lt"/>
                        </a:rPr>
                        <a:t>Description</a:t>
                      </a:r>
                    </a:p>
                  </a:txBody>
                  <a:tcPr/>
                </a:tc>
                <a:extLst>
                  <a:ext uri="{0D108BD9-81ED-4DB2-BD59-A6C34878D82A}">
                    <a16:rowId xmlns:a16="http://schemas.microsoft.com/office/drawing/2014/main" val="1430961484"/>
                  </a:ext>
                </a:extLst>
              </a:tr>
              <a:tr h="589871">
                <a:tc>
                  <a:txBody>
                    <a:bodyPr/>
                    <a:lstStyle/>
                    <a:p>
                      <a:r>
                        <a:rPr lang="en-IN" b="1" dirty="0">
                          <a:latin typeface="+mj-lt"/>
                        </a:rPr>
                        <a:t>Place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j-lt"/>
                        </a:rPr>
                        <a:t>Name of the tourist place or city</a:t>
                      </a:r>
                    </a:p>
                    <a:p>
                      <a:endParaRPr lang="en-IN" dirty="0"/>
                    </a:p>
                  </a:txBody>
                  <a:tcPr/>
                </a:tc>
                <a:extLst>
                  <a:ext uri="{0D108BD9-81ED-4DB2-BD59-A6C34878D82A}">
                    <a16:rowId xmlns:a16="http://schemas.microsoft.com/office/drawing/2014/main" val="3866958041"/>
                  </a:ext>
                </a:extLst>
              </a:tr>
              <a:tr h="589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mj-lt"/>
                        </a:rPr>
                        <a:t>State/UT</a:t>
                      </a:r>
                      <a:endParaRPr lang="en-IN" dirty="0">
                        <a:latin typeface="+mj-lt"/>
                      </a:endParaRPr>
                    </a:p>
                    <a:p>
                      <a:endParaRPr lang="en-IN" dirty="0"/>
                    </a:p>
                  </a:txBody>
                  <a:tcPr/>
                </a:tc>
                <a:tc>
                  <a:txBody>
                    <a:bodyPr/>
                    <a:lstStyle/>
                    <a:p>
                      <a:r>
                        <a:rPr lang="en-US" dirty="0">
                          <a:latin typeface="+mj-lt"/>
                        </a:rPr>
                        <a:t>Name of the state or union territory</a:t>
                      </a:r>
                      <a:endParaRPr lang="en-IN" dirty="0">
                        <a:latin typeface="+mj-lt"/>
                      </a:endParaRPr>
                    </a:p>
                  </a:txBody>
                  <a:tcPr/>
                </a:tc>
                <a:extLst>
                  <a:ext uri="{0D108BD9-81ED-4DB2-BD59-A6C34878D82A}">
                    <a16:rowId xmlns:a16="http://schemas.microsoft.com/office/drawing/2014/main" val="222164596"/>
                  </a:ext>
                </a:extLst>
              </a:tr>
              <a:tr h="337069">
                <a:tc>
                  <a:txBody>
                    <a:bodyPr/>
                    <a:lstStyle/>
                    <a:p>
                      <a:r>
                        <a:rPr lang="en-IN" b="1" dirty="0">
                          <a:latin typeface="+mj-lt"/>
                        </a:rPr>
                        <a:t>Year</a:t>
                      </a:r>
                    </a:p>
                  </a:txBody>
                  <a:tcPr/>
                </a:tc>
                <a:tc>
                  <a:txBody>
                    <a:bodyPr/>
                    <a:lstStyle/>
                    <a:p>
                      <a:pPr>
                        <a:buNone/>
                      </a:pPr>
                      <a:r>
                        <a:rPr lang="en-IN" dirty="0">
                          <a:latin typeface="+mj-lt"/>
                        </a:rPr>
                        <a:t>Year of the record</a:t>
                      </a:r>
                    </a:p>
                  </a:txBody>
                  <a:tcPr anchor="ctr"/>
                </a:tc>
                <a:extLst>
                  <a:ext uri="{0D108BD9-81ED-4DB2-BD59-A6C34878D82A}">
                    <a16:rowId xmlns:a16="http://schemas.microsoft.com/office/drawing/2014/main" val="1805621998"/>
                  </a:ext>
                </a:extLst>
              </a:tr>
              <a:tr h="337069">
                <a:tc>
                  <a:txBody>
                    <a:bodyPr/>
                    <a:lstStyle/>
                    <a:p>
                      <a:r>
                        <a:rPr lang="en-IN" b="1" dirty="0">
                          <a:latin typeface="+mj-lt"/>
                        </a:rPr>
                        <a:t>Visitors Count</a:t>
                      </a:r>
                    </a:p>
                  </a:txBody>
                  <a:tcPr/>
                </a:tc>
                <a:tc>
                  <a:txBody>
                    <a:bodyPr/>
                    <a:lstStyle/>
                    <a:p>
                      <a:pPr>
                        <a:buNone/>
                      </a:pPr>
                      <a:r>
                        <a:rPr lang="en-US" dirty="0">
                          <a:latin typeface="+mj-lt"/>
                        </a:rPr>
                        <a:t>Total number of visitors recorded</a:t>
                      </a:r>
                      <a:endParaRPr lang="en-IN" dirty="0">
                        <a:latin typeface="+mj-lt"/>
                      </a:endParaRPr>
                    </a:p>
                  </a:txBody>
                  <a:tcPr anchor="ctr"/>
                </a:tc>
                <a:extLst>
                  <a:ext uri="{0D108BD9-81ED-4DB2-BD59-A6C34878D82A}">
                    <a16:rowId xmlns:a16="http://schemas.microsoft.com/office/drawing/2014/main" val="3902821110"/>
                  </a:ext>
                </a:extLst>
              </a:tr>
            </a:tbl>
          </a:graphicData>
        </a:graphic>
      </p:graphicFrame>
      <p:pic>
        <p:nvPicPr>
          <p:cNvPr id="2050" name="Picture 2">
            <a:extLst>
              <a:ext uri="{FF2B5EF4-FFF2-40B4-BE49-F238E27FC236}">
                <a16:creationId xmlns:a16="http://schemas.microsoft.com/office/drawing/2014/main" id="{BEF2BAF3-8C42-1E52-0184-110FD0936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448" y="884099"/>
            <a:ext cx="5164011" cy="25449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743D3E8-EAE9-4768-3C92-BE9A5C8484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6988" y="959716"/>
            <a:ext cx="5973050" cy="244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597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FEC1A-B14E-A474-B699-FD45F13A3EBF}"/>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6BCA1366-33E9-3730-734A-EC1443AAF5D9}"/>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5DCA726B-8233-0E91-F5E8-7A49F48D6429}"/>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B932E653-C4C0-61F6-2170-7F288FAE27D1}"/>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662C926E-6439-CF28-5D3F-91433496E68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69AB6040-F495-E419-30C6-1CB2504965F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F93A7D2-900B-0338-01F7-28FA8ECA6A4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A3A39BD0-0AF8-3855-1FA0-51A81167C77C}"/>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0D0F33F3-698A-557D-E1C3-7B24891B46EE}"/>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2AFAFF35-BE8F-5C50-575F-437ABAEC2D0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D2E06DC5-264D-5A1C-6B6B-B2FE41D6E2B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38235117-136B-0479-D0D9-8EF632D6C1F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D23FCE32-5CB2-2597-8BF5-8B789651778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90E31CA4-87EC-7534-8EA9-E112B379AEE7}"/>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AF25B835-51D8-8710-B84A-897ACDDE9790}"/>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723A1BAB-19A7-9BB1-281B-D4ED48750E0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5EAA7-F298-78DD-82AE-78B69152F12D}"/>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E5B7B22E-CBDC-7923-E196-BA912419E281}"/>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EBC2A18F-603B-2AC5-35E8-33835B77AD7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8628B0E8-71A5-1EF5-0546-5D7CD708652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FF7611C7-41DF-17A7-01E2-A4DD2BC118B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A08B64A-4ED7-F588-F621-05F5182F1247}"/>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B9997BC3-97BE-836D-555C-8EAE3AF3966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C852D783-7C0F-53A9-7853-76960BE568F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D702D2A5-BF5D-F71E-6F59-7A740FAA27C7}"/>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54BCC6A3-0D37-EA8E-4856-83B9A4E20A3C}"/>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EC92FC20-DEE8-E5A5-3BF2-1E765F1425BF}"/>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34CE4636-4E7E-E314-9B1B-C2EF6B5DA6A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22075A17-945A-99C7-AB2A-B5967765BBE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96E03D6A-68AD-9F0D-D570-92472818D90A}"/>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AC328183-E0A9-E401-ABBC-D065AE2DA5C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9CB855AC-CADE-5411-2E8C-67240A10C4B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8A81E36F-2512-BB38-294A-22EED2961E85}"/>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CB92A81B-0025-1966-91C1-0A2CA5EE6AA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CD98A0BD-7D41-F686-85EC-51B906A5E2A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93ABD7EA-DBE0-1960-3ECB-455ECE092BFA}"/>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5F7C035-01DF-2919-2E25-E9C4B855E86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81359060-B20B-64A0-2D95-8B5EC55DD16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CC312F6C-EAD0-EC7C-6428-26E7BB723557}"/>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D3A3FF6F-562B-3C4C-0606-C3DBD0618053}"/>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B32D0989-D131-A615-4B94-19BF2D3F476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406C8E74-7F16-9366-394C-D31048EA580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153F4629-4D9A-E6F2-6156-056A1C730136}"/>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27DF32E0-CF34-5A04-88E4-64623D1F929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A2FF0AD5-5BA6-FF97-2500-5AA657C8C3D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EA6781B5-1C42-8709-5F1D-AAEA584A28DE}"/>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E6F386E4-2939-804E-1D5E-F3C45AD82D2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CA9E2DB-F8FA-A00F-B65D-98597636ABD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EE211457-B3ED-22B7-C169-7982153DED15}"/>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417C38F6-5F95-765E-21ED-124E8EE27B75}"/>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862AC698-7BAD-CA1D-FA4D-233509F8CB6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C3B154C7-7FFC-02E4-58EE-D5EE143291E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A1A0347D-1D2D-30AA-3D77-A44E51DB98E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5D205CE-D363-DDFE-D368-81ADE0200FB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DD9ECB48-8A25-B921-F569-934C7FD026C4}"/>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F49EA1C4-901D-566E-2C49-C8F092EFBAF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35CE1B8E-3380-572A-76A8-56EE730B7F0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3E8E3334-6B62-D3BE-616C-B9AECF831BBD}"/>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DFDA5DE8-2AFA-C732-C675-E1FC715500F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3E23790-CD0A-6449-1A5C-A37C5B6F5D2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FC4A4899-27B0-D082-60F3-96DB05D52C18}"/>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ED04FABA-0826-8756-EA69-9E7BDE8A3BC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B185C811-4E59-806C-37F7-2D00830AD533}"/>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4BB79DEB-BD92-975C-44C6-185240FF2B1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978E1FC0-8063-DECD-1546-6BB47AB8A11C}"/>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BA89DC3A-D106-173A-A0A6-CE549A980339}"/>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D484F244-2634-842C-CCDD-B6DC0204B427}"/>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ECDD9597-191D-B301-7E57-AE71993356FE}"/>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90207DE2-2318-190B-095A-392FE2BEFFD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C98BD460-ECE1-C0BB-867C-00F171DBD84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AEC2C24A-0C30-AF96-7F98-60738E1BF6F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2ED754BD-04B5-2B04-1463-A68C567CA56D}"/>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F8B76B02-ACA2-DEC7-E331-3E243C8C75A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FFB0D528-9EF5-B6FF-E6B1-4C3A3A34CAA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DAB31F5E-F4EF-56E3-311B-A8468B4E912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EE795A0B-3595-AC40-9367-9B9EB73D5EDC}"/>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B67570D2-EE16-F086-2109-52399FEB33F4}"/>
              </a:ext>
            </a:extLst>
          </p:cNvPr>
          <p:cNvSpPr/>
          <p:nvPr/>
        </p:nvSpPr>
        <p:spPr>
          <a:xfrm>
            <a:off x="3990631" y="120847"/>
            <a:ext cx="4160981"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rgbClr val="002060"/>
                </a:solidFill>
                <a:latin typeface="Times New Roman" panose="02020603050405020304" pitchFamily="18" charset="0"/>
                <a:cs typeface="Times New Roman" panose="02020603050405020304" pitchFamily="18" charset="0"/>
              </a:rPr>
              <a:t>Data Preprocessing</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701AAAEF-8F96-487D-D60C-00D2ABEEDC2D}"/>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D920D54-158D-6C25-E33F-8836614052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8DE89DEF-3260-C654-357F-82B5E7CDAEEF}"/>
              </a:ext>
            </a:extLst>
          </p:cNvPr>
          <p:cNvSpPr>
            <a:spLocks noGrp="1"/>
          </p:cNvSpPr>
          <p:nvPr>
            <p:ph type="sldNum" sz="quarter" idx="12"/>
          </p:nvPr>
        </p:nvSpPr>
        <p:spPr/>
        <p:txBody>
          <a:bodyPr/>
          <a:lstStyle/>
          <a:p>
            <a:fld id="{38A635C9-4A98-4745-BD96-9D0E32025E69}" type="slidenum">
              <a:rPr lang="en-IN" smtClean="0"/>
              <a:t>4</a:t>
            </a:fld>
            <a:endParaRPr lang="en-IN" dirty="0"/>
          </a:p>
        </p:txBody>
      </p:sp>
      <p:sp>
        <p:nvSpPr>
          <p:cNvPr id="6" name="TextBox 5">
            <a:extLst>
              <a:ext uri="{FF2B5EF4-FFF2-40B4-BE49-F238E27FC236}">
                <a16:creationId xmlns:a16="http://schemas.microsoft.com/office/drawing/2014/main" id="{F869E114-6A7D-0722-9923-6FEBEF6F0928}"/>
              </a:ext>
            </a:extLst>
          </p:cNvPr>
          <p:cNvSpPr txBox="1"/>
          <p:nvPr/>
        </p:nvSpPr>
        <p:spPr>
          <a:xfrm>
            <a:off x="864338" y="990991"/>
            <a:ext cx="3235335" cy="409342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Loaded dataset using (</a:t>
            </a:r>
            <a:r>
              <a:rPr lang="en-US" sz="2000" dirty="0" err="1">
                <a:latin typeface="Times New Roman" panose="02020603050405020304" pitchFamily="18" charset="0"/>
                <a:cs typeface="Times New Roman" panose="02020603050405020304" pitchFamily="18" charset="0"/>
              </a:rPr>
              <a:t>pandas.read_csv</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Checked for </a:t>
            </a:r>
            <a:r>
              <a:rPr lang="en-US" sz="2000" b="1" dirty="0">
                <a:latin typeface="Times New Roman" panose="02020603050405020304" pitchFamily="18" charset="0"/>
                <a:cs typeface="Times New Roman" panose="02020603050405020304" pitchFamily="18" charset="0"/>
              </a:rPr>
              <a:t>null values</a:t>
            </a:r>
            <a:r>
              <a:rPr lang="en-US" sz="2000" dirty="0">
                <a:latin typeface="Times New Roman" panose="02020603050405020304" pitchFamily="18" charset="0"/>
                <a:cs typeface="Times New Roman" panose="02020603050405020304" pitchFamily="18" charset="0"/>
              </a:rPr>
              <a:t> and handled missing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Calculated </a:t>
            </a:r>
            <a:r>
              <a:rPr lang="en-US" sz="2000" b="1" dirty="0">
                <a:latin typeface="Times New Roman" panose="02020603050405020304" pitchFamily="18" charset="0"/>
                <a:cs typeface="Times New Roman" panose="02020603050405020304" pitchFamily="18" charset="0"/>
              </a:rPr>
              <a:t>mean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median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standard deviation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Determined </a:t>
            </a:r>
            <a:r>
              <a:rPr lang="en-US" sz="2000" b="1" dirty="0">
                <a:latin typeface="Times New Roman" panose="02020603050405020304" pitchFamily="18" charset="0"/>
                <a:cs typeface="Times New Roman" panose="02020603050405020304" pitchFamily="18" charset="0"/>
              </a:rPr>
              <a:t>coefficient of variation</a:t>
            </a:r>
            <a:r>
              <a:rPr lang="en-US" sz="2000" dirty="0">
                <a:latin typeface="Times New Roman" panose="02020603050405020304" pitchFamily="18" charset="0"/>
                <a:cs typeface="Times New Roman" panose="02020603050405020304" pitchFamily="18" charset="0"/>
              </a:rPr>
              <a:t> to identify stable parameters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Normalized visitor counts for better clustering and regression</a:t>
            </a:r>
            <a:endParaRPr lang="en-IN" sz="2000" b="1" dirty="0">
              <a:solidFill>
                <a:srgbClr val="002060"/>
              </a:solidFill>
              <a:latin typeface="Times New Roman" panose="02020603050405020304" pitchFamily="18" charset="0"/>
              <a:cs typeface="Times New Roman" panose="02020603050405020304" pitchFamily="18" charset="0"/>
            </a:endParaRPr>
          </a:p>
        </p:txBody>
      </p:sp>
      <p:pic>
        <p:nvPicPr>
          <p:cNvPr id="3078" name="Picture 6">
            <a:extLst>
              <a:ext uri="{FF2B5EF4-FFF2-40B4-BE49-F238E27FC236}">
                <a16:creationId xmlns:a16="http://schemas.microsoft.com/office/drawing/2014/main" id="{34177997-85EE-2EC6-5B9E-8F67AD0D51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5546" y="1170359"/>
            <a:ext cx="7439988" cy="36473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80BCCD5-F779-CDDE-29A6-4D989EFCD8E4}"/>
              </a:ext>
            </a:extLst>
          </p:cNvPr>
          <p:cNvSpPr txBox="1"/>
          <p:nvPr/>
        </p:nvSpPr>
        <p:spPr>
          <a:xfrm>
            <a:off x="2314483" y="5860119"/>
            <a:ext cx="7756005" cy="369332"/>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rPr>
              <a:t>Interpretation:</a:t>
            </a:r>
            <a:r>
              <a:rPr lang="en-US" dirty="0">
                <a:solidFill>
                  <a:srgbClr val="FF0000"/>
                </a:solidFill>
                <a:latin typeface="Times New Roman" panose="02020603050405020304" pitchFamily="18" charset="0"/>
                <a:cs typeface="Times New Roman" panose="02020603050405020304" pitchFamily="18" charset="0"/>
              </a:rPr>
              <a:t> Identifies high-variance states (like Goa &amp; Kerala) and outliers.</a:t>
            </a:r>
            <a:endParaRPr lang="en-IN" sz="18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463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E29AC-61B1-C558-8A82-56B6C0E1FA98}"/>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87D8BF38-FB70-AE34-021F-B0458E3050D9}"/>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CDF9FD33-D148-2779-115E-5CA846EA9B97}"/>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1BFB50CE-ADF9-DA2B-DE8C-D266FFCFDB3A}"/>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F2B3DF7E-E1EA-9C36-090E-65E2645E44F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901CE97D-78A9-F02E-E0B8-DD8CABC46577}"/>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A652053E-797D-9A4C-D43F-0AF7E1BAFF6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AAC06B9A-1E9B-7DDD-6781-769433BF6D9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B6BAE001-56D4-24F0-7691-2DE3E33C52DD}"/>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8A5244DE-2A22-31DB-ABA1-F9FA47ADE86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B26CAD87-2166-58F1-32A2-8BC949DC982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18BEBE8F-9B0A-4BCD-248E-23798C857F09}"/>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571AFE62-35AC-91CD-25F4-04A0A5ABEF8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F69BC2CE-1B9B-AE62-9BDD-D82FE484E93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FC123E9-682F-3E02-CD5D-B4E8B5C6B79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57612A9-0DCE-83AD-8189-6140402B4D6B}"/>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0E8A9443-3039-4DE6-49F1-5ECB21B69A97}"/>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F7BF72D-7F0F-C61D-6E4E-5A5B2E729EEC}"/>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821E6B57-969A-0551-0BF7-8E927350B10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35039C8A-4FA9-0DA1-3285-19DCC5BAAB2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62DB686F-B25E-78FA-4159-2A6889E1ABA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3CD22D3A-A66B-5ABC-0AC8-EB0772FC04D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5652950D-40EE-5378-0057-2D814D8836A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255E8ABD-1A38-A531-44E4-12ABEB6AAC1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C0D5E0D4-0117-8541-DDAA-E3EF50A858A4}"/>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4AB0FFDE-CD3C-A18A-ECE2-AE0A133BB0D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FFCD8BB-8E54-3B4F-3F19-5C9DF968FF29}"/>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E77FB90F-3236-F808-65BB-B01BCD7F54B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B8868BAE-99A0-1521-8198-CE4E8BAA996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E34317BE-8E46-5554-3922-C6108C323BB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3666F0EA-1D39-A412-1049-54DF0B8680D6}"/>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EA0B6AB0-5512-9BA5-FA5F-046EE451EAFF}"/>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AFE341E6-4334-E307-B3C1-98CAEAF7355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BDACE2F1-45F6-96DF-34EA-1663F44DD8B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B17EC9AD-720D-E66C-7853-56289F86C10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684541D4-81A6-3A6C-E4F3-E5C743348B2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4FB6C1D6-F6E6-91B8-0AB8-7B0A997D1205}"/>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241D9AEE-E962-2B2B-11EE-1DBB393437C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170CFF7A-8B53-12CE-CFE5-0B318C28ACE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5067F87D-7FC1-6B04-3203-D9EDF70572D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08868F85-12C7-B5C8-EC04-621B4D06E519}"/>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0C7A8A8A-FE58-0801-911A-4256257D603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397C98B4-E8DB-949B-361E-19E7EFACC3F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C4B73DDA-0ADD-5537-976D-E9E8E8C9899C}"/>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173BF989-6359-DC2D-6FBA-BA7452BAC36D}"/>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4486D7E8-81E7-B05F-C031-624737D5A44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2E65CC38-EC28-DCC6-BDE4-0AA2BE272BC9}"/>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6C8CA52C-51A5-305F-03F5-65E4DFFE0DF8}"/>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C43519CF-B466-D900-AB5D-4A9D7BEF5CA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DB5D2B8A-3221-6431-694D-42B4EF6B6B6D}"/>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CBE9E065-E2A8-DCBE-E0CF-2CCA09FD11E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4EBE99D5-598E-2079-18B1-B875B8CAE8B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A3FC2436-1B2E-47CF-403C-042249313D5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8316F9A8-0192-0115-7395-5D2D2D2307F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EA06B15C-7954-AA62-7543-9F82BA095DF9}"/>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FB819FF9-7523-D8A5-CB6D-F3D0BB6A241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74165CAA-BE0F-B3D6-604F-DD6AC79D113F}"/>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5AC3C485-8EE8-9487-8B4F-35DF3B13C2F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579023C6-41D4-8D93-DD4C-C8414975B0E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E304D2BE-C4B7-B86D-C50E-2E0C3809F34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47A0F407-F30A-F6AB-3DDE-C1F5C4A9DF1A}"/>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112F655A-777D-CEAF-7233-A3AB6B2AC3A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9EC8E260-0882-1ABA-82F7-5BB9AD074916}"/>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6FB1B59C-17B8-56B5-34C0-3EE9C2FEDA01}"/>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BF5E395F-BC8A-89A0-34F6-48098066044D}"/>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DF7D57C6-E42A-3B1D-51FD-C9507324F949}"/>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95676271-9125-6FD8-B600-237FA7F2CE5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4A46C0EE-5205-4F4E-7C45-37387C773EED}"/>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20996931-A75A-EB9A-FB16-6A30CE61353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B9FC6155-08F8-ACC5-365C-046766BB25E0}"/>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FA52E9AF-69EC-DA7B-B355-3D8D1725726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A048A64D-1B70-6544-09A7-CD5EF9FAA90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3527EAE2-8896-F9FE-F5CB-93E5B1EA9CB1}"/>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5CA187B1-D6D5-B039-F10A-A513EFBA042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86157E1D-30F0-66F2-CCE9-EF4F019B2E3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129B823F-F2E6-FB46-29DB-85DA4557EFD9}"/>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CB8C4669-AAEE-53A7-632C-9390A13388C7}"/>
              </a:ext>
            </a:extLst>
          </p:cNvPr>
          <p:cNvSpPr/>
          <p:nvPr/>
        </p:nvSpPr>
        <p:spPr>
          <a:xfrm>
            <a:off x="3308667" y="152234"/>
            <a:ext cx="6263712"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chemeClr val="accent5">
                    <a:lumMod val="50000"/>
                  </a:schemeClr>
                </a:solidFill>
                <a:latin typeface="Times New Roman" panose="02020603050405020304" pitchFamily="18" charset="0"/>
                <a:cs typeface="Times New Roman" panose="02020603050405020304" pitchFamily="18" charset="0"/>
              </a:rPr>
              <a:t>Exploratory Data Analysis (EDA)</a:t>
            </a: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3C45792E-60CB-FED8-0DDE-389794681D45}"/>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DAB9A0E-0755-C425-B8DC-0A6F302319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72BFE8B6-72B6-4BEC-996B-FDB3E61894EF}"/>
              </a:ext>
            </a:extLst>
          </p:cNvPr>
          <p:cNvSpPr>
            <a:spLocks noGrp="1"/>
          </p:cNvSpPr>
          <p:nvPr>
            <p:ph type="sldNum" sz="quarter" idx="12"/>
          </p:nvPr>
        </p:nvSpPr>
        <p:spPr/>
        <p:txBody>
          <a:bodyPr/>
          <a:lstStyle/>
          <a:p>
            <a:fld id="{38A635C9-4A98-4745-BD96-9D0E32025E69}" type="slidenum">
              <a:rPr lang="en-IN" smtClean="0"/>
              <a:t>5</a:t>
            </a:fld>
            <a:endParaRPr lang="en-IN" dirty="0"/>
          </a:p>
        </p:txBody>
      </p:sp>
      <p:pic>
        <p:nvPicPr>
          <p:cNvPr id="4100" name="Picture 4">
            <a:extLst>
              <a:ext uri="{FF2B5EF4-FFF2-40B4-BE49-F238E27FC236}">
                <a16:creationId xmlns:a16="http://schemas.microsoft.com/office/drawing/2014/main" id="{8DCFC682-98BB-5E73-D2C5-AA1106612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52464"/>
            <a:ext cx="5401932" cy="26599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F6DF50-2476-73B2-AA83-207C6444F87B}"/>
              </a:ext>
            </a:extLst>
          </p:cNvPr>
          <p:cNvSpPr txBox="1"/>
          <p:nvPr/>
        </p:nvSpPr>
        <p:spPr>
          <a:xfrm>
            <a:off x="632111" y="3248446"/>
            <a:ext cx="4518349"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Bar Plot: Total Tourist Arrivals by State/UT</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4102" name="Picture 6">
            <a:extLst>
              <a:ext uri="{FF2B5EF4-FFF2-40B4-BE49-F238E27FC236}">
                <a16:creationId xmlns:a16="http://schemas.microsoft.com/office/drawing/2014/main" id="{DBB64362-EB4F-AE29-2FE0-EB7BA4FD435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97347" y="727858"/>
            <a:ext cx="3350063" cy="256543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F8D5AB0-7008-0931-2171-F34E8DFB90E7}"/>
              </a:ext>
            </a:extLst>
          </p:cNvPr>
          <p:cNvSpPr txBox="1"/>
          <p:nvPr/>
        </p:nvSpPr>
        <p:spPr>
          <a:xfrm>
            <a:off x="6790067" y="3248446"/>
            <a:ext cx="5401932" cy="369332"/>
          </a:xfrm>
          <a:prstGeom prst="rect">
            <a:avLst/>
          </a:prstGeom>
          <a:noFill/>
        </p:spPr>
        <p:txBody>
          <a:bodyPr wrap="square">
            <a:spAutoFit/>
          </a:bodyPr>
          <a:lstStyle/>
          <a:p>
            <a:r>
              <a:rPr lang="en-US" b="1" i="0" dirty="0">
                <a:solidFill>
                  <a:schemeClr val="tx1">
                    <a:lumMod val="95000"/>
                    <a:lumOff val="5000"/>
                  </a:schemeClr>
                </a:solidFill>
                <a:effectLst/>
                <a:latin typeface="Times New Roman" panose="02020603050405020304" pitchFamily="18" charset="0"/>
                <a:cs typeface="Times New Roman" panose="02020603050405020304" pitchFamily="18" charset="0"/>
              </a:rPr>
              <a:t> Pie Chart: Top 10 Tourist Places by Total Visitors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104" name="Picture 8">
            <a:extLst>
              <a:ext uri="{FF2B5EF4-FFF2-40B4-BE49-F238E27FC236}">
                <a16:creationId xmlns:a16="http://schemas.microsoft.com/office/drawing/2014/main" id="{FE229009-016F-382F-B817-7EFDA67D41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7827" y="3716311"/>
            <a:ext cx="4406663" cy="266024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7ADBEC6-51CF-5F4C-090E-2B8715A63D77}"/>
              </a:ext>
            </a:extLst>
          </p:cNvPr>
          <p:cNvSpPr txBox="1"/>
          <p:nvPr/>
        </p:nvSpPr>
        <p:spPr>
          <a:xfrm>
            <a:off x="7464490" y="4418777"/>
            <a:ext cx="3305370" cy="147732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Heatmap: Correlation Between Variables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Shows strong correlation between “Visitors Count” and “Year”, confirming growth trend.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19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939A-D9AF-3051-32ED-9B2A630AD80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D05D7874-8DBD-2933-D8B4-1EB5B24F46A8}"/>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DCFBB2BE-2E09-84E5-CC74-459B07A70156}"/>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224F03A0-C2E7-571C-15C2-B768E9236D41}"/>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B4D6E08C-46F7-8A96-DE2A-14AC7A829ED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4DF71043-EC59-54D0-FC87-2FB8138D864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762BDFFB-CFEB-42C7-A709-D4785FBB70A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70FBFB7B-E144-36E8-BF92-E2B02895DA1F}"/>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6C61B4D-9791-3697-FF91-3D501595FDF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88093164-8EAE-CFDE-BDCE-A8007A5BEFC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85CA2BE1-176C-5AD1-0CBA-46A7E264F45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36672177-DCD7-595C-3ED2-6884681CEDE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9E5907A9-6C01-8FE8-130B-1424A26113D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2B099F40-33AF-12FD-F476-6587C5752EA6}"/>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0FA6BB13-D0A0-CF72-038D-3D82E255A89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81612FDF-FC5E-3024-CCB8-C65F1089D09A}"/>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6B84E868-026A-9545-DC43-865EF69006B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C9EBD123-3FB8-BE04-284C-82467388229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4CAA6018-5381-E6B2-8F0A-DB9E728F5EBE}"/>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25D8AA93-AA2A-552D-7019-F3ADE1D413D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EB6E3654-ED3A-31AA-683F-EDD3198E08ED}"/>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0A84B034-4E01-7DD1-3D19-8D8FC988C5C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A67D6C8E-51D1-CBD9-FA2A-05D96EBA7375}"/>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98115DB3-268A-7868-1784-AC62147968A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92186A2D-FBE1-76BD-0826-416635753FA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90A42C1A-93E2-3FE1-CE2C-C5AD1061EB37}"/>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C3733915-A561-43C1-623F-78B5C0CA184F}"/>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48242338-BE53-3EF3-E241-3D0470265576}"/>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06AF9C81-BBF0-B861-F013-103E691D5F05}"/>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5B88F9B3-46E3-FA07-0E53-B3B08EC4FD6A}"/>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63E218C6-2D26-1B18-7536-215AFF89FD2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3604544C-0BCB-265A-D71A-AB476A137A58}"/>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C444CCEB-46A7-9B1A-0213-34EF80BA15F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0AC968AF-37B0-E1BF-7CF8-F864C4DD3A9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F0ABDDBC-F7CF-A47A-BB22-432F6AE5E7B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155BF0F4-6449-0216-9678-C49035E578D5}"/>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47FC091-81F9-F93E-C796-19699BCDA41A}"/>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B9F3F8BE-A5B4-2E58-8844-438FA4D2597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2EAB4D55-AB10-4A20-AD1A-A2A05E52CE8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5CAABAA9-0DBA-98E9-3680-F88FE4388C40}"/>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0B3EFC25-F415-96B3-181C-41968C1295F0}"/>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4C1C4C55-EB59-104E-A8FB-11EE23C47A41}"/>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3435F72A-4FDF-EB6E-33A1-BB3EA9A30D9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3DE4D9F9-C9F5-DB96-BC0A-5A72C3770B0C}"/>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57682830-F803-0192-D3C4-8682851392B5}"/>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2F9C2C73-1BFC-CC99-8F73-8506711F61A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0E67AA7C-8D57-023D-200A-A02AF9086BC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A7B2BBE0-EBD9-A386-8ECA-CF5C84F964C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D4E61CE8-DC16-305B-DFE7-0A258B4B8FA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57B31410-0A5A-7F52-A741-4466D2B8C36A}"/>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C0EA9848-B306-1FF7-E8E0-DFDB26A9B64A}"/>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D9CD9E14-3468-E1C6-40E3-E71AC0E75004}"/>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3F14B55A-C17F-873A-A590-27ACB5248C8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EEE3154F-DCB2-9CA1-6E7F-90AEAE48A3B1}"/>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5CA4BD66-0FE4-15F7-4AEB-266833CACDF4}"/>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80028BE4-E5B2-150F-4BE5-744E4CBD844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4C8A7A15-0B3E-4C6E-A2B5-4940C269D415}"/>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037049FB-473A-7D5B-0299-60DA93E00FE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4375BF6F-DC12-3E96-D04C-528B0E34366D}"/>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840D2B1C-482A-FE75-42A9-E523956D91FB}"/>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EF53FBA5-BCBB-F3E6-7DCE-C8090CD7ABD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7996DD5B-01DF-EF93-0ABE-655C6656268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95A9EC14-26BC-CD99-7164-C4AB8DD1A3D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ACE46E5B-0B2F-9258-ADF0-B8C4CC71021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EF61566B-EA4B-87EF-BD29-78AE7D821AA5}"/>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C8164CA7-0B90-FD1B-6A5C-84927B20021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7204AED-575E-F70A-B424-6900110BA9E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68D34B7F-5C5C-73D0-829F-D75CCF35A35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9832AEE1-742C-D78B-64B5-F604F649F95E}"/>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27F22787-D49B-84D6-F5D0-BA81BADD31F6}"/>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0B954B92-5070-2E52-23C0-5E24F3B769F3}"/>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31CCEA33-AEB1-B0CA-0D99-E70B95EC5D4C}"/>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C6D5E5AA-CB98-991A-C321-A8646C7F8BE3}"/>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23DD8F95-3E1D-09CB-E360-B3423FAD0742}"/>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C92BC3C3-6902-6DBE-DE43-479EFD1D531F}"/>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405C4D4F-6921-335E-3325-D1A53ECCFAE0}"/>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2B3759A6-62F9-3B44-087C-85A8807B4039}"/>
              </a:ext>
            </a:extLst>
          </p:cNvPr>
          <p:cNvSpPr/>
          <p:nvPr/>
        </p:nvSpPr>
        <p:spPr>
          <a:xfrm>
            <a:off x="4395190" y="94232"/>
            <a:ext cx="3735945"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chemeClr val="accent5">
                    <a:lumMod val="50000"/>
                  </a:schemeClr>
                </a:solidFill>
                <a:latin typeface="Times New Roman" panose="02020603050405020304" pitchFamily="18" charset="0"/>
                <a:cs typeface="Times New Roman" panose="02020603050405020304" pitchFamily="18" charset="0"/>
              </a:rPr>
              <a:t>Regression Analysis</a:t>
            </a: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84B20458-5272-3854-826D-63A5EC56739C}"/>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B236E21-F4E3-4428-D0C9-CCD149F82F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DC4D06D5-DA1E-C6CA-9420-D5C40E7C2B37}"/>
              </a:ext>
            </a:extLst>
          </p:cNvPr>
          <p:cNvSpPr>
            <a:spLocks noGrp="1"/>
          </p:cNvSpPr>
          <p:nvPr>
            <p:ph type="sldNum" sz="quarter" idx="12"/>
          </p:nvPr>
        </p:nvSpPr>
        <p:spPr/>
        <p:txBody>
          <a:bodyPr/>
          <a:lstStyle/>
          <a:p>
            <a:fld id="{38A635C9-4A98-4745-BD96-9D0E32025E69}" type="slidenum">
              <a:rPr lang="en-IN" smtClean="0"/>
              <a:t>6</a:t>
            </a:fld>
            <a:endParaRPr lang="en-IN"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F94243E-B9B9-C36F-E3B1-10E72C5651EA}"/>
                  </a:ext>
                </a:extLst>
              </p:cNvPr>
              <p:cNvSpPr txBox="1"/>
              <p:nvPr/>
            </p:nvSpPr>
            <p:spPr>
              <a:xfrm>
                <a:off x="542029" y="928984"/>
                <a:ext cx="9069249" cy="2585323"/>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Used </a:t>
                </a:r>
                <a:r>
                  <a:rPr lang="en-IN" b="1" dirty="0">
                    <a:latin typeface="Times New Roman" panose="02020603050405020304" pitchFamily="18" charset="0"/>
                    <a:cs typeface="Times New Roman" panose="02020603050405020304" pitchFamily="18" charset="0"/>
                  </a:rPr>
                  <a:t>Linear Regression</a:t>
                </a:r>
                <a:r>
                  <a:rPr lang="en-IN" dirty="0">
                    <a:latin typeface="Times New Roman" panose="02020603050405020304" pitchFamily="18" charset="0"/>
                    <a:cs typeface="Times New Roman" panose="02020603050405020304" pitchFamily="18" charset="0"/>
                  </a:rPr>
                  <a:t> to predict tourist arrivals based on historical data.</a:t>
                </a:r>
              </a:p>
              <a:p>
                <a:r>
                  <a:rPr lang="en-IN" b="1" dirty="0">
                    <a:latin typeface="Times New Roman" panose="02020603050405020304" pitchFamily="18" charset="0"/>
                    <a:cs typeface="Times New Roman" panose="02020603050405020304" pitchFamily="18" charset="0"/>
                  </a:rPr>
                  <a:t>Formula:</a:t>
                </a:r>
                <a:endParaRPr lang="en-IN" dirty="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IN" i="1"/>
                        <m:t>𝑌</m:t>
                      </m:r>
                      <m:r>
                        <a:rPr lang="en-IN"/>
                        <m:t>=</m:t>
                      </m:r>
                      <m:sSub>
                        <m:sSubPr>
                          <m:ctrlPr>
                            <a:rPr lang="ar-AE" i="1"/>
                          </m:ctrlPr>
                        </m:sSubPr>
                        <m:e>
                          <m:r>
                            <a:rPr lang="ar-AE" i="1"/>
                            <m:t>𝑏</m:t>
                          </m:r>
                        </m:e>
                        <m:sub>
                          <m:r>
                            <a:rPr lang="ar-AE"/>
                            <m:t>0</m:t>
                          </m:r>
                        </m:sub>
                      </m:sSub>
                      <m:r>
                        <a:rPr lang="ar-AE"/>
                        <m:t>+</m:t>
                      </m:r>
                      <m:sSub>
                        <m:sSubPr>
                          <m:ctrlPr>
                            <a:rPr lang="ar-AE" i="1"/>
                          </m:ctrlPr>
                        </m:sSubPr>
                        <m:e>
                          <m:r>
                            <a:rPr lang="ar-AE" i="1"/>
                            <m:t>𝑏</m:t>
                          </m:r>
                        </m:e>
                        <m:sub>
                          <m:r>
                            <a:rPr lang="ar-AE"/>
                            <m:t>1</m:t>
                          </m:r>
                        </m:sub>
                      </m:sSub>
                      <m:r>
                        <a:rPr lang="ar-AE" i="1"/>
                        <m:t>𝑋</m:t>
                      </m:r>
                      <m:r>
                        <a:rPr lang="ar-AE"/>
                        <m:t>+</m:t>
                      </m:r>
                      <m:r>
                        <a:rPr lang="ar-AE" i="1"/>
                        <m:t>𝜖</m:t>
                      </m:r>
                    </m:oMath>
                  </m:oMathPara>
                </a14:m>
                <a:endParaRPr lang="en-IN" dirty="0"/>
              </a:p>
              <a:p>
                <a:endParaRPr lang="en-IN" dirty="0"/>
              </a:p>
              <a:p>
                <a:r>
                  <a:rPr lang="en-IN" dirty="0">
                    <a:latin typeface="Times New Roman" panose="02020603050405020304" pitchFamily="18" charset="0"/>
                    <a:cs typeface="Times New Roman" panose="02020603050405020304" pitchFamily="18" charset="0"/>
                  </a:rPr>
                  <a:t>where</a:t>
                </a:r>
                <a:br>
                  <a:rPr lang="en-IN" dirty="0">
                    <a:latin typeface="Times New Roman" panose="02020603050405020304" pitchFamily="18" charset="0"/>
                    <a:cs typeface="Times New Roman" panose="02020603050405020304" pitchFamily="18" charset="0"/>
                  </a:rPr>
                </a:br>
                <a14:m>
                  <m:oMath xmlns:m="http://schemas.openxmlformats.org/officeDocument/2006/math">
                    <m:r>
                      <a:rPr lang="en-IN" i="1"/>
                      <m:t>𝑌</m:t>
                    </m:r>
                  </m:oMath>
                </a14:m>
                <a:r>
                  <a:rPr lang="en-IN" dirty="0">
                    <a:latin typeface="Times New Roman" panose="02020603050405020304" pitchFamily="18" charset="0"/>
                    <a:cs typeface="Times New Roman" panose="02020603050405020304" pitchFamily="18" charset="0"/>
                  </a:rPr>
                  <a:t>= Visitors Count,</a:t>
                </a:r>
                <a:br>
                  <a:rPr lang="en-IN" dirty="0">
                    <a:latin typeface="Times New Roman" panose="02020603050405020304" pitchFamily="18" charset="0"/>
                    <a:cs typeface="Times New Roman" panose="02020603050405020304" pitchFamily="18" charset="0"/>
                  </a:rPr>
                </a:br>
                <a14:m>
                  <m:oMath xmlns:m="http://schemas.openxmlformats.org/officeDocument/2006/math">
                    <m:r>
                      <a:rPr lang="en-IN" i="1"/>
                      <m:t>𝑋</m:t>
                    </m:r>
                  </m:oMath>
                </a14:m>
                <a:r>
                  <a:rPr lang="en-IN" dirty="0">
                    <a:latin typeface="Times New Roman" panose="02020603050405020304" pitchFamily="18" charset="0"/>
                    <a:cs typeface="Times New Roman" panose="02020603050405020304" pitchFamily="18" charset="0"/>
                  </a:rPr>
                  <a:t>= Year,</a:t>
                </a:r>
                <a:br>
                  <a:rPr lang="en-IN" dirty="0">
                    <a:latin typeface="Times New Roman" panose="02020603050405020304" pitchFamily="18" charset="0"/>
                    <a:cs typeface="Times New Roman" panose="02020603050405020304" pitchFamily="18" charset="0"/>
                  </a:rPr>
                </a:br>
                <a14:m>
                  <m:oMath xmlns:m="http://schemas.openxmlformats.org/officeDocument/2006/math">
                    <m:sSub>
                      <m:sSubPr>
                        <m:ctrlPr>
                          <a:rPr lang="ar-AE"/>
                        </m:ctrlPr>
                      </m:sSubPr>
                      <m:e>
                        <m:r>
                          <a:rPr lang="ar-AE" i="1"/>
                          <m:t>𝑏</m:t>
                        </m:r>
                      </m:e>
                      <m:sub>
                        <m:r>
                          <a:rPr lang="ar-AE"/>
                          <m:t>1</m:t>
                        </m:r>
                      </m:sub>
                    </m:sSub>
                  </m:oMath>
                </a14:m>
                <a:r>
                  <a:rPr lang="ar-AE"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Slope (rate of change),</a:t>
                </a:r>
                <a:br>
                  <a:rPr lang="en-IN" dirty="0">
                    <a:latin typeface="Times New Roman" panose="02020603050405020304" pitchFamily="18" charset="0"/>
                    <a:cs typeface="Times New Roman" panose="02020603050405020304" pitchFamily="18" charset="0"/>
                  </a:rPr>
                </a:br>
                <a14:m>
                  <m:oMath xmlns:m="http://schemas.openxmlformats.org/officeDocument/2006/math">
                    <m:sSub>
                      <m:sSubPr>
                        <m:ctrlPr>
                          <a:rPr lang="ar-AE"/>
                        </m:ctrlPr>
                      </m:sSubPr>
                      <m:e>
                        <m:r>
                          <a:rPr lang="ar-AE" i="1"/>
                          <m:t>𝑏</m:t>
                        </m:r>
                      </m:e>
                      <m:sub>
                        <m:r>
                          <a:rPr lang="ar-AE"/>
                          <m:t>0</m:t>
                        </m:r>
                      </m:sub>
                    </m:sSub>
                  </m:oMath>
                </a14:m>
                <a:r>
                  <a:rPr lang="ar-AE"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Intercept.</a:t>
                </a:r>
                <a:endParaRPr lang="ar-AE" dirty="0">
                  <a:latin typeface="Times New Roman" panose="02020603050405020304" pitchFamily="18"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5F94243E-B9B9-C36F-E3B1-10E72C5651EA}"/>
                  </a:ext>
                </a:extLst>
              </p:cNvPr>
              <p:cNvSpPr txBox="1">
                <a:spLocks noRot="1" noChangeAspect="1" noMove="1" noResize="1" noEditPoints="1" noAdjustHandles="1" noChangeArrowheads="1" noChangeShapeType="1" noTextEdit="1"/>
              </p:cNvSpPr>
              <p:nvPr/>
            </p:nvSpPr>
            <p:spPr>
              <a:xfrm>
                <a:off x="542029" y="928984"/>
                <a:ext cx="9069249" cy="2585323"/>
              </a:xfrm>
              <a:prstGeom prst="rect">
                <a:avLst/>
              </a:prstGeom>
              <a:blipFill>
                <a:blip r:embed="rId3"/>
                <a:stretch>
                  <a:fillRect l="-605" t="-1179" b="-2830"/>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F860C38C-6651-3A96-E460-509B44FEBFBF}"/>
              </a:ext>
            </a:extLst>
          </p:cNvPr>
          <p:cNvSpPr txBox="1"/>
          <p:nvPr/>
        </p:nvSpPr>
        <p:spPr>
          <a:xfrm>
            <a:off x="7679094" y="4370702"/>
            <a:ext cx="4633150"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Regression Line: Actual vs Predicted Visitors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Shows how the regression model fits the trend line for growth prediction.</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8A04ECB9-8011-A60D-982A-BD8AC96C5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2780" y="1261983"/>
            <a:ext cx="4173349" cy="310871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766BD01-D00E-589B-3A51-1E4AA9A1CB85}"/>
              </a:ext>
            </a:extLst>
          </p:cNvPr>
          <p:cNvSpPr txBox="1"/>
          <p:nvPr/>
        </p:nvSpPr>
        <p:spPr>
          <a:xfrm>
            <a:off x="682482" y="4728687"/>
            <a:ext cx="6153538"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R² Score:</a:t>
            </a:r>
            <a:r>
              <a:rPr lang="en-US" dirty="0">
                <a:latin typeface="Times New Roman" panose="02020603050405020304" pitchFamily="18" charset="0"/>
                <a:cs typeface="Times New Roman" panose="02020603050405020304" pitchFamily="18" charset="0"/>
              </a:rPr>
              <a:t> 0.89</a:t>
            </a:r>
          </a:p>
          <a:p>
            <a:r>
              <a:rPr lang="en-US" b="1" dirty="0">
                <a:latin typeface="Times New Roman" panose="02020603050405020304" pitchFamily="18" charset="0"/>
                <a:cs typeface="Times New Roman" panose="02020603050405020304" pitchFamily="18" charset="0"/>
              </a:rPr>
              <a:t>Mean Absolute Error (MAE):</a:t>
            </a:r>
            <a:r>
              <a:rPr lang="en-US" dirty="0">
                <a:latin typeface="Times New Roman" panose="02020603050405020304" pitchFamily="18" charset="0"/>
                <a:cs typeface="Times New Roman" panose="02020603050405020304" pitchFamily="18" charset="0"/>
              </a:rPr>
              <a:t> Low (good fit)</a:t>
            </a:r>
          </a:p>
          <a:p>
            <a:r>
              <a:rPr lang="en-US" b="1" dirty="0">
                <a:latin typeface="Times New Roman" panose="02020603050405020304" pitchFamily="18" charset="0"/>
                <a:cs typeface="Times New Roman" panose="02020603050405020304" pitchFamily="18" charset="0"/>
              </a:rPr>
              <a:t>Insight:</a:t>
            </a:r>
            <a:r>
              <a:rPr lang="en-US" dirty="0">
                <a:latin typeface="Times New Roman" panose="02020603050405020304" pitchFamily="18" charset="0"/>
                <a:cs typeface="Times New Roman" panose="02020603050405020304" pitchFamily="18" charset="0"/>
              </a:rPr>
              <a:t> Predicts steady growth in tourism post-recovery phase.</a:t>
            </a:r>
          </a:p>
        </p:txBody>
      </p:sp>
    </p:spTree>
    <p:extLst>
      <p:ext uri="{BB962C8B-B14F-4D97-AF65-F5344CB8AC3E}">
        <p14:creationId xmlns:p14="http://schemas.microsoft.com/office/powerpoint/2010/main" val="3401719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F20FC-4A7D-DD51-008E-A3D7105255A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C2A78F56-F8FC-5C40-BF7A-87A6CE4EE9C0}"/>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EA0EA11-6C5B-5921-A7EF-C6E39CDAA4B6}"/>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0724F6A-1726-662A-06D0-9057194F769E}"/>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7701F35A-61A9-010B-49A9-BC10305DC99D}"/>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260C47F9-1AE2-43EA-8ACD-0B96EE5ECDC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529409BB-4DFE-E5F3-DC00-A4F1462BD63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30ED3EA9-AC2A-81B5-657E-A430FC112BE6}"/>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73C5F2C-DB3E-3796-F793-1CC5DB39851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68428886-87D6-F35A-BE7B-666912E15BF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1C545D69-E118-C34B-F078-3F20468C3354}"/>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DB0505F9-C64F-CF36-1296-8952EEE97239}"/>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F153E20C-D34D-BA3E-F050-E7A201A82AD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58CED3AA-264C-4CE0-9AEC-6E2ECAAD0BB5}"/>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4F5DD7BE-8562-B98A-DA95-1D02EC8615DF}"/>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35C8FCB9-909A-B49B-C2C9-BB6F2953DF1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27BF0911-BA1D-30E1-BC2E-66B3EDFC833E}"/>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29F8BF85-FDEE-FA5E-D5DC-3E9AB26DE150}"/>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8D838B4B-D0B6-8616-13EF-BAFA3D552C0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C5A65A76-59B2-F154-CEA2-C742AFEEF3EB}"/>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D4E03492-378D-5A19-D7E2-69BD0B1CC06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4B32197E-4447-68DF-C54A-3281D19F9326}"/>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D3A206DE-A8CA-249E-3896-4F5A382AFC5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6392476B-68F2-52F4-4055-A2707E47AA83}"/>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2E46E69D-C5BA-BCB2-8FEE-854AB502C5C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D044BB10-492C-A82E-77CC-23EA61CC781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273EBC33-61E2-32A5-9BDF-E40BB10A203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4DFA3A65-6C1C-80F7-BFD7-891C9614054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22170E14-39AE-8B08-475B-959411941428}"/>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D064852-4690-AA1A-CD11-BED61366FDF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2BD22E62-E35B-97BB-D877-F927BE456C77}"/>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3B5D9965-BF44-A27E-9D33-69174CC8207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188A865C-1BF6-003B-4797-CBEB36CACE35}"/>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2C687ECB-003E-4E28-C61E-B3C795F99441}"/>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1303FC35-4D1E-8CCC-3360-CDB38D3CFCF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54F1DBFB-58A3-9C73-2594-5B0C2DCC01B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840F06BE-7DFE-57BF-C913-8FA2E7DFD9DE}"/>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E79AE3D5-7B1F-5DEB-4CFD-EA7F0CC882D2}"/>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A3B9102C-5969-6603-4363-E74216F6BDE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E54DABBD-9FB0-6E03-1F4B-C1F169097E02}"/>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7864A8A3-E38D-90B2-A79B-1F1A30DE216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5655B235-1DD6-B4E9-D075-16E1B913CE6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A4C34B2A-A818-3BD5-EAEF-07E5DCC40E8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800CCB96-B489-166F-5395-00D425FB0B7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49FADE1A-C23D-EFA9-3227-EFF682F3BE5D}"/>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E5BE56BB-C3F7-43D8-CF7D-76617A64A37E}"/>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FBFE59C2-20FE-F76F-AF04-D91434015835}"/>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0E485081-4E39-D1EA-E921-DA5162C0051D}"/>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04BC9F80-29E8-A218-2ED0-BAE490FC702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45BD1D29-50F1-4BAD-4256-DD82F7447DDD}"/>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3D520C30-E16F-091C-28DA-A346586AAD21}"/>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F3D627A4-2FB0-D9BC-E89B-6E4FEC45032F}"/>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DF2B6F20-E9C8-BBB3-33ED-4A387424AC4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CE3E827A-F3DA-51B3-5051-BA115CBFC393}"/>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3C30A88E-BFD9-059E-81A5-F519F7571E0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EC6495BA-8119-3A6A-A77D-13FE89CC8B57}"/>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9E9A8895-3463-477A-7F5B-90FA138578D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6BF08A5D-54AC-08DB-5731-76548E043F8D}"/>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4564573C-272C-595C-B609-784D28D4B0E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F6ECB9F-9EDD-2209-FA79-03383F08A26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EAC63E3F-5D53-CC5B-D208-4672CB9F367A}"/>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C53B2D87-061C-A177-240F-ADEBD645FE2D}"/>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6E207BD2-D8B9-3C51-7B79-DF8E855E6439}"/>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27390B13-2D0E-759B-B6CF-597C9B8EF35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EC01AEB0-5F1F-C625-460D-E26E0CEB3C4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28ADC16C-0A24-3FCC-8D8E-697A9EEC9903}"/>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878ECD3D-484E-AE3D-63AE-62A53B04E5D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9D204A29-1497-647E-E30E-B53F2FB3446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FB9425A4-E730-AE8A-A38B-A7AFC6F7011A}"/>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911EDB05-BA30-B729-2FFC-E460A5862895}"/>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ED6CC1F9-3E18-CC67-F5E0-2F237A7E828C}"/>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4B15972D-4AA4-763C-6117-FD2A7A4D0CE2}"/>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CD954275-5F52-4933-CFA8-AB63D9F45B4E}"/>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9D9BE73D-1364-16A7-78B0-C5FCC3B98D4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12B23B39-2800-6EB1-2788-E1ECBB90877E}"/>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D9713647-9B5C-0705-DD13-1A6123BE4A5D}"/>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300ED2A9-C38A-4BB3-BBA6-70A6A88BA8AF}"/>
              </a:ext>
            </a:extLst>
          </p:cNvPr>
          <p:cNvSpPr/>
          <p:nvPr/>
        </p:nvSpPr>
        <p:spPr>
          <a:xfrm>
            <a:off x="4395190" y="94232"/>
            <a:ext cx="3735945"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chemeClr val="accent5">
                    <a:lumMod val="50000"/>
                  </a:schemeClr>
                </a:solidFill>
                <a:latin typeface="Times New Roman" panose="02020603050405020304" pitchFamily="18" charset="0"/>
                <a:cs typeface="Times New Roman" panose="02020603050405020304" pitchFamily="18" charset="0"/>
              </a:rPr>
              <a:t>Clustering Analysis</a:t>
            </a: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0F713E60-4246-2119-E5B3-4FC5A88928EA}"/>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973EA4C-C291-ACE3-A641-650455CC15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5D5408B0-7987-32CF-5F20-4E63368D49B7}"/>
              </a:ext>
            </a:extLst>
          </p:cNvPr>
          <p:cNvSpPr>
            <a:spLocks noGrp="1"/>
          </p:cNvSpPr>
          <p:nvPr>
            <p:ph type="sldNum" sz="quarter" idx="12"/>
          </p:nvPr>
        </p:nvSpPr>
        <p:spPr/>
        <p:txBody>
          <a:bodyPr/>
          <a:lstStyle/>
          <a:p>
            <a:fld id="{38A635C9-4A98-4745-BD96-9D0E32025E69}" type="slidenum">
              <a:rPr lang="en-IN" smtClean="0"/>
              <a:t>7</a:t>
            </a:fld>
            <a:endParaRPr lang="en-IN" dirty="0"/>
          </a:p>
        </p:txBody>
      </p:sp>
      <p:sp>
        <p:nvSpPr>
          <p:cNvPr id="7" name="TextBox 6">
            <a:extLst>
              <a:ext uri="{FF2B5EF4-FFF2-40B4-BE49-F238E27FC236}">
                <a16:creationId xmlns:a16="http://schemas.microsoft.com/office/drawing/2014/main" id="{4D3300F7-C25D-B4D1-429C-E299716D81F3}"/>
              </a:ext>
            </a:extLst>
          </p:cNvPr>
          <p:cNvSpPr txBox="1"/>
          <p:nvPr/>
        </p:nvSpPr>
        <p:spPr>
          <a:xfrm>
            <a:off x="542030" y="928984"/>
            <a:ext cx="3901185" cy="369331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Applied </a:t>
            </a:r>
            <a:r>
              <a:rPr lang="en-US" b="1" dirty="0">
                <a:latin typeface="Times New Roman" panose="02020603050405020304" pitchFamily="18" charset="0"/>
                <a:cs typeface="Times New Roman" panose="02020603050405020304" pitchFamily="18" charset="0"/>
              </a:rPr>
              <a:t>K-Means Clustering</a:t>
            </a:r>
            <a:r>
              <a:rPr lang="en-US" dirty="0">
                <a:latin typeface="Times New Roman" panose="02020603050405020304" pitchFamily="18" charset="0"/>
                <a:cs typeface="Times New Roman" panose="02020603050405020304" pitchFamily="18" charset="0"/>
              </a:rPr>
              <a:t> on normalized visitor data.</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Steps:</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Chose optimal </a:t>
            </a:r>
            <a:r>
              <a:rPr lang="en-IN" i="1" dirty="0">
                <a:latin typeface="Times New Roman" panose="02020603050405020304" pitchFamily="18" charset="0"/>
                <a:cs typeface="Times New Roman" panose="02020603050405020304" pitchFamily="18" charset="0"/>
              </a:rPr>
              <a:t>K</a:t>
            </a:r>
            <a:r>
              <a:rPr lang="en-IN" dirty="0">
                <a:latin typeface="Times New Roman" panose="02020603050405020304" pitchFamily="18" charset="0"/>
                <a:cs typeface="Times New Roman" panose="02020603050405020304" pitchFamily="18" charset="0"/>
              </a:rPr>
              <a:t> using Elbow Method.</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Grouped states into 3 clusters: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Cluster 1: High-performing states (Goa, Kerala, Tamil Nadu)</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Cluster 2: Medium-performing states (Maharashtra, Rajasthan)</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Cluster 3: Low-performing states (North-East, Bihar, etc.)</a:t>
            </a:r>
          </a:p>
        </p:txBody>
      </p:sp>
      <p:sp>
        <p:nvSpPr>
          <p:cNvPr id="9" name="TextBox 8">
            <a:extLst>
              <a:ext uri="{FF2B5EF4-FFF2-40B4-BE49-F238E27FC236}">
                <a16:creationId xmlns:a16="http://schemas.microsoft.com/office/drawing/2014/main" id="{0CAA15F7-80F2-85B5-65CE-08F6B8E630B1}"/>
              </a:ext>
            </a:extLst>
          </p:cNvPr>
          <p:cNvSpPr txBox="1"/>
          <p:nvPr/>
        </p:nvSpPr>
        <p:spPr>
          <a:xfrm>
            <a:off x="5984318" y="4392901"/>
            <a:ext cx="627610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Cluster Scatter Plot (K-Means)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Color-coded clusters showing regional performance groups.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FE7C9E-CCAE-4FCC-6D9E-63575ED765D0}"/>
              </a:ext>
            </a:extLst>
          </p:cNvPr>
          <p:cNvSpPr txBox="1"/>
          <p:nvPr/>
        </p:nvSpPr>
        <p:spPr>
          <a:xfrm>
            <a:off x="634337" y="5550871"/>
            <a:ext cx="6615550" cy="646331"/>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rPr>
              <a:t>Insight:</a:t>
            </a:r>
            <a:r>
              <a:rPr lang="en-US" dirty="0">
                <a:solidFill>
                  <a:srgbClr val="FF0000"/>
                </a:solidFill>
                <a:latin typeface="Times New Roman" panose="02020603050405020304" pitchFamily="18" charset="0"/>
                <a:cs typeface="Times New Roman" panose="02020603050405020304" pitchFamily="18" charset="0"/>
              </a:rPr>
              <a:t> Tourism concentration is higher in coastal and heritage states.</a:t>
            </a:r>
          </a:p>
        </p:txBody>
      </p:sp>
      <p:pic>
        <p:nvPicPr>
          <p:cNvPr id="6146" name="Picture 2">
            <a:extLst>
              <a:ext uri="{FF2B5EF4-FFF2-40B4-BE49-F238E27FC236}">
                <a16:creationId xmlns:a16="http://schemas.microsoft.com/office/drawing/2014/main" id="{907D263A-2264-DF2A-352A-2FFF8FE04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676" y="956781"/>
            <a:ext cx="6951898" cy="3436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33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D0060-B70D-B618-1C66-382E06D556A7}"/>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8E94018-3CAB-957C-81DB-8958C6640EE8}"/>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E48AE7B9-1FB3-18B2-2301-F9720662DB79}"/>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1BB7FF1A-7439-486C-86DE-F19F666B143A}"/>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DE2BA6D7-81F7-BF52-C1EC-176B87C6966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916BA99-3E23-1682-C173-67A59AED84A8}"/>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3E4B173F-51A6-0457-2275-D0049657913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6B26BA15-A017-9A51-8310-23E3381F4FB4}"/>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3D1FC52-D703-0B7F-F1BE-8E3E41C3789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1CF25DA9-07FF-4842-D328-83C56782E2B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09B088-F2A0-6056-826A-CF3043B7ADA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6766FE8F-8822-8E3E-1DF9-EDD9FB7455D5}"/>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3868067E-0331-FAD7-71BA-B7E6FAD4E78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870A5004-BD6B-FF01-98FA-B630D15767D4}"/>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89342910-F8D3-7B0D-AF4B-BED1A8C64F9A}"/>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2D85E147-3DAD-3D2B-F6A1-C52414D98CD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8D7A3819-5534-609B-6DB1-B9F9DCE0253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EB800BC8-08CC-1FC3-5AC2-5B8EAE054FB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A20FF0EF-300D-5863-ED46-CE99C574F72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F3FBFA89-5389-BCBE-50DF-F327A7059D3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6720E6C1-FF68-BA47-47C6-FDA0A4A7B50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9980AD4A-8221-1A3B-F6A4-A78B05386AA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58D14204-76C8-F196-3356-F55E4C6560EA}"/>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AFBE743A-C81A-657D-2CF0-FA2BF30E6F66}"/>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753B626B-584D-480B-D376-F9763F02395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62A02E24-A3B9-E75D-3A82-679C90C270F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A512FC24-FBF3-1527-85B2-F049E755B9B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DB201317-BB0A-B3AE-89B6-4B54772E130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036455A9-C36D-30A6-7799-4F0A1D3B8EA3}"/>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72B7D83C-53B2-97A5-C0B2-8BB3B2F00D43}"/>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65533890-5E84-740F-E504-A713AE5CC498}"/>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935B8E70-C6E7-5B0A-1CF0-97EF524C226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776E0B5E-B983-F701-B3E5-3CCB7C9B0FF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19CE886B-13C2-CBFF-D4FE-BD2FF9CF5C1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663538F2-FCC8-6287-1EF6-93B4FB91A2C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0B926A7F-852E-7E15-DB46-9EF936AE5CE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D05E81F-F0C5-CAA8-B860-0866997B75B7}"/>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F492D96-96E8-F67D-9C6B-8C6FE5ABC53D}"/>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079C68F7-BE46-FF1E-4483-E47031F5F840}"/>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822D3BE3-A11B-1180-8B4C-BC6B88F1D172}"/>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3B03FF33-5F38-EE4A-D5ED-9B7D1267ABF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9665F9FB-B6C0-EDED-487C-9E2C6FB7DC61}"/>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E2CFBCDD-4D58-E6B8-C09A-84266407773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836A4D30-D922-5D66-D9CC-8C802716807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05428DB5-B432-E52F-1F06-E0D76CE3D078}"/>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4BEEAFD7-7A61-6335-D823-0F25D3B86DE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3F7BF150-FBBD-B33D-114B-50BF3C60A79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298B89CB-B02C-80A0-B839-551EE42B9B4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E90A7DA1-FEF7-6A42-947B-8336D53DF87C}"/>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F0CFB630-B42C-E52F-183F-8DE96F453AB6}"/>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9EBE41CB-0068-1894-2BB9-65483EACFADB}"/>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2A17FA83-95FE-2EFD-1319-C1DAD385F6A6}"/>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669E2141-472A-AEBA-804F-93239339251F}"/>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959E476D-945D-C06F-E16C-50A08E587915}"/>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4DFF35AA-732F-E7DA-CE10-FFB06042B88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46F5FAAF-DC36-0E76-A7EB-B03C4D46090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93368BEB-6143-3570-211F-CCD3C7822860}"/>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CDB9CB83-3796-FB01-2473-C8A7FF51E825}"/>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EF80814C-42DF-FEAE-0819-87349E0B617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868DC397-C42C-C47F-0D71-5B904F484FB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88B1FF4A-BBDE-2E7A-9404-1E0D7AA2393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271449D2-CEDF-089C-D72F-EFE20458E21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84DE6E87-34A0-077B-E2C0-C408EF9F3EE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DDF3CBAA-F51F-012D-3F14-5385210C87C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A3F154F2-21FD-C1E2-C71D-7D580F0EF423}"/>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4F84AD68-69C8-7B93-8DB5-CE4AFC3436E5}"/>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D4EC824E-E7BD-C6A3-783E-9A4D3DE7FF86}"/>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2172F216-354A-C2E0-E1AA-F9BAC670211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931F37FA-E930-B15C-3022-777001C7C7AC}"/>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08873C3D-796D-9F48-1CE1-C4CB6D0245A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1A8CC1D9-CAA4-FB6D-965E-C372DFCB22A6}"/>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30FDE23A-35B3-E4B1-7B59-87A616BED67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1586B40-CC1E-7408-E77C-1AB83ECCF0DA}"/>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681CA76C-1160-A402-A4E5-53C203AB75E8}"/>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43F0541D-D14F-07AA-A1BA-9CD44ACAEF4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BB3D25A0-8C59-EEE7-801B-AA2D9B5B26C6}"/>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446AD394-5BD4-74CF-29CF-66A992CA6F45}"/>
              </a:ext>
            </a:extLst>
          </p:cNvPr>
          <p:cNvSpPr/>
          <p:nvPr/>
        </p:nvSpPr>
        <p:spPr>
          <a:xfrm>
            <a:off x="4395190" y="94232"/>
            <a:ext cx="5513920"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chemeClr val="accent5">
                    <a:lumMod val="50000"/>
                  </a:schemeClr>
                </a:solidFill>
                <a:latin typeface="Times New Roman" panose="02020603050405020304" pitchFamily="18" charset="0"/>
                <a:cs typeface="Times New Roman" panose="02020603050405020304" pitchFamily="18" charset="0"/>
              </a:rPr>
              <a:t>Classification Analysis</a:t>
            </a: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CDC89396-1D48-80E8-B3B4-CCC3E67C25A9}"/>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EACAEF9-5658-41FA-F92A-B713AA0F57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C87EF98F-F52E-2359-0C35-A1CC0D7DABA8}"/>
              </a:ext>
            </a:extLst>
          </p:cNvPr>
          <p:cNvSpPr>
            <a:spLocks noGrp="1"/>
          </p:cNvSpPr>
          <p:nvPr>
            <p:ph type="sldNum" sz="quarter" idx="12"/>
          </p:nvPr>
        </p:nvSpPr>
        <p:spPr/>
        <p:txBody>
          <a:bodyPr/>
          <a:lstStyle/>
          <a:p>
            <a:fld id="{38A635C9-4A98-4745-BD96-9D0E32025E69}" type="slidenum">
              <a:rPr lang="en-IN" smtClean="0"/>
              <a:t>8</a:t>
            </a:fld>
            <a:endParaRPr lang="en-IN" dirty="0"/>
          </a:p>
        </p:txBody>
      </p:sp>
      <p:sp>
        <p:nvSpPr>
          <p:cNvPr id="7" name="TextBox 6">
            <a:extLst>
              <a:ext uri="{FF2B5EF4-FFF2-40B4-BE49-F238E27FC236}">
                <a16:creationId xmlns:a16="http://schemas.microsoft.com/office/drawing/2014/main" id="{7CACE744-865E-F0FE-7F3B-5E52429379EF}"/>
              </a:ext>
            </a:extLst>
          </p:cNvPr>
          <p:cNvSpPr txBox="1"/>
          <p:nvPr/>
        </p:nvSpPr>
        <p:spPr>
          <a:xfrm>
            <a:off x="618471" y="1647441"/>
            <a:ext cx="3489330" cy="286232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Applied </a:t>
            </a:r>
            <a:r>
              <a:rPr lang="en-US" b="1" dirty="0">
                <a:latin typeface="Times New Roman" panose="02020603050405020304" pitchFamily="18" charset="0"/>
                <a:cs typeface="Times New Roman" panose="02020603050405020304" pitchFamily="18" charset="0"/>
              </a:rPr>
              <a:t>Decision Tree Classifier</a:t>
            </a:r>
            <a:r>
              <a:rPr lang="en-US" dirty="0">
                <a:latin typeface="Times New Roman" panose="02020603050405020304" pitchFamily="18" charset="0"/>
                <a:cs typeface="Times New Roman" panose="02020603050405020304" pitchFamily="18" charset="0"/>
              </a:rPr>
              <a:t> to label states into performance categories: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Medium</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Low</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Features Used: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Average visitors per year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Growth rate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Domestic-foreign ratio</a:t>
            </a:r>
          </a:p>
        </p:txBody>
      </p:sp>
      <p:sp>
        <p:nvSpPr>
          <p:cNvPr id="6" name="TextBox 5">
            <a:extLst>
              <a:ext uri="{FF2B5EF4-FFF2-40B4-BE49-F238E27FC236}">
                <a16:creationId xmlns:a16="http://schemas.microsoft.com/office/drawing/2014/main" id="{09ED1738-F7FB-53F6-ECB6-EC6D4BEB613E}"/>
              </a:ext>
            </a:extLst>
          </p:cNvPr>
          <p:cNvSpPr txBox="1"/>
          <p:nvPr/>
        </p:nvSpPr>
        <p:spPr>
          <a:xfrm>
            <a:off x="1293787" y="5539888"/>
            <a:ext cx="6615550" cy="646331"/>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rPr>
              <a:t>Insight:</a:t>
            </a:r>
            <a:r>
              <a:rPr lang="en-US" dirty="0">
                <a:solidFill>
                  <a:srgbClr val="FF0000"/>
                </a:solidFill>
                <a:latin typeface="Times New Roman" panose="02020603050405020304" pitchFamily="18" charset="0"/>
                <a:cs typeface="Times New Roman" panose="02020603050405020304" pitchFamily="18" charset="0"/>
              </a:rPr>
              <a:t> Classification successfully predicts tourism performance level per state.</a:t>
            </a:r>
          </a:p>
        </p:txBody>
      </p:sp>
      <p:pic>
        <p:nvPicPr>
          <p:cNvPr id="7170" name="Picture 2">
            <a:extLst>
              <a:ext uri="{FF2B5EF4-FFF2-40B4-BE49-F238E27FC236}">
                <a16:creationId xmlns:a16="http://schemas.microsoft.com/office/drawing/2014/main" id="{61E32BE3-200F-672E-D1CF-DCC1398ED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860" y="815403"/>
            <a:ext cx="7430389" cy="4787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79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DE2F3-3D65-A24C-0F95-FD4EED27B2DD}"/>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A45ABE9-B24A-42FF-F5C9-39AB637D2EE1}"/>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7B6CEAEE-4485-6BD2-195F-D6B086BEB6EC}"/>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ECE4FEF4-BDFA-96CD-7025-47613445C4DB}"/>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D58EF9B9-79B9-7C1C-2F3F-DA3A6DD7B05B}"/>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C72AD274-D84E-C6C2-07A3-40BA9E88EDD8}"/>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1230E91-5F73-24D4-E9A9-172B98C13E97}"/>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6F2B0F6C-1A8E-390A-60C1-A9E3C538ABB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652EB31-C3E2-AEAF-07EC-EA2624BD9FA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952C5D9E-421D-3F0F-EAFE-407FB9C7EB1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FCDEA5BF-4DAB-7D58-C64D-0393842411D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EBB39B79-181E-8CA0-A557-795B337CB59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B834DB84-A6D0-41CA-943C-FF5667D909CF}"/>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A526F34C-A681-8206-D230-F8670A009355}"/>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C511833F-78F3-880A-218C-0E02B75FCBA5}"/>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B1202B4E-B3E9-AC6A-9019-47AF28AB4B16}"/>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FBFD2164-63A0-EEE2-6A49-8D47540F9169}"/>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84CBBA7-6A47-7989-0024-57CB4E18FDA2}"/>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801E6608-01C1-22E0-791A-6E6A2B277FE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E5D93E54-C8A6-FF9E-1D13-08FAE45CDFE3}"/>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E82CBB2F-E240-270E-352E-FF963A16B360}"/>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88F230B6-33A6-854E-C9B6-566A25FECD3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EFF9AB7C-AF56-A66E-94AE-84BEC154C7C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295047CE-C0F3-F884-2CF4-9A886587863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5C4D26F8-0814-BD43-794E-1F6768D53EF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0097E9B8-812A-7C0A-4CB3-71B2FBA9575B}"/>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42C02E3-C605-64DB-BFE2-033C795EB23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FBD1E680-821C-358A-214B-172BF8A8EF9A}"/>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5DBA4916-6EE1-CF14-3649-4EAC80225485}"/>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5C7DB8B4-EB81-2CD1-5CF3-D6F32E399C73}"/>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5D32C8ED-301B-6B79-71B2-BC04742D145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3972F898-1E2F-3953-F80E-5A99F7F9B2E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F28FD972-93D6-752C-DEC3-3BF7D59104CC}"/>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4F538FB2-995E-BAF2-9031-7D825FE3629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E8A37E57-60D1-173B-D929-893AA2954CB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6C3080BC-A0E7-F6CE-6D3E-0C61998EBDD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E22891F0-35B1-95E1-D69E-DC27D4A4520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73B6704D-50FB-4656-8A12-67B82AD1D30C}"/>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48F3D6CF-73AC-8FEF-C159-F6568F0C5F6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0B42F701-1AEE-046C-C8ED-BCFCA6C5BCBD}"/>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9C759660-C3DD-B3B8-DF33-F85E2FCB33AC}"/>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6709AD66-3851-53DA-276D-949976A8E76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887E515F-D140-0F7B-649B-FF5665B821D8}"/>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85F927AB-5E94-EBB0-BC42-2D130A058A44}"/>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EFE9F2E2-AF7B-D4A0-2366-4E1CCF5DF7F8}"/>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A270A828-BA27-8CBB-6078-B1E19B8B957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63B3F791-0C8D-5DB3-6A71-708ED1A7BD4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A65B9F6B-FA59-F14B-87A9-5BA117BAEFC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11BAD5FD-E288-D628-4A21-57E48ED8CDE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A53B4329-1D7E-DB4E-EB90-393F6D1FD6F5}"/>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A0C74FF1-D5E7-60E0-A0AC-8CBFFDC7198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F2E080A5-B9AB-8727-2998-31835A9498D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289650AF-98B4-A5B9-0F4A-ACD21F082783}"/>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7180C9D8-2B1D-A6A9-9914-A394DBAAC38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DD788ED0-51FD-0CC6-A380-7F1F6A699297}"/>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9C434EFD-121A-4EF8-7CB0-7724544D0D71}"/>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82081DAA-536B-E639-D677-EBCF49DD4A0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14512E6B-B290-A0BA-7590-5B36582F852D}"/>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442A43B1-6BA7-F69A-BE40-E232A0788445}"/>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F848D42F-46EF-3D67-C4C9-0DC0AFE6B05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D7912227-B19A-5833-358C-1D734405896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DA5E1AF1-2A96-13E6-79F5-BED860DDBF0E}"/>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436706C2-C8A5-4F41-8782-1A4F1AD917A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088F516E-53D1-801F-F2DE-186C6CC8C85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E6FB350A-8CC4-2178-40C5-D7F69C906154}"/>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EC86C3FB-C9E6-9BA1-16FB-3BA4B08A25C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2E90C2B3-90B4-28C3-CF5E-69BA4C10BA9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9B136FC7-67C8-1502-EE16-031D7BF1519F}"/>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81523415-DC72-0015-B958-7534FD01D6D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51FE73B3-FD05-18F0-3CED-3E2EA1A2FC3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FC1BBB84-3233-EF22-3092-0808BD2FC5CB}"/>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D1F6BAC3-1F60-A25C-2CE8-D25776D5411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BAF69C75-D048-49A1-A3BD-464F510D3DBE}"/>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78BEC254-A285-D608-D312-5F1CAC8128AD}"/>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020F6372-7DE5-EE64-EAD3-CEF71B706865}"/>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3E283BBA-8C65-BE61-A6B6-B0AC0E8D5A94}"/>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3383882B-2CCA-2378-AFC8-912289C26A0D}"/>
              </a:ext>
            </a:extLst>
          </p:cNvPr>
          <p:cNvSpPr/>
          <p:nvPr/>
        </p:nvSpPr>
        <p:spPr>
          <a:xfrm>
            <a:off x="4395190" y="94232"/>
            <a:ext cx="5513920"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chemeClr val="accent5">
                    <a:lumMod val="50000"/>
                  </a:schemeClr>
                </a:solidFill>
                <a:latin typeface="Times New Roman" panose="02020603050405020304" pitchFamily="18" charset="0"/>
                <a:cs typeface="Times New Roman" panose="02020603050405020304" pitchFamily="18" charset="0"/>
              </a:rPr>
              <a:t>Results &amp; Insights</a:t>
            </a: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D33F96DB-D232-45C1-7BD1-375357EBEAC9}"/>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1E1E13E-7248-63BC-78F5-F66F31DF11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84920CB8-DC7B-6D62-6E76-BBE28808A0D3}"/>
              </a:ext>
            </a:extLst>
          </p:cNvPr>
          <p:cNvSpPr>
            <a:spLocks noGrp="1"/>
          </p:cNvSpPr>
          <p:nvPr>
            <p:ph type="sldNum" sz="quarter" idx="12"/>
          </p:nvPr>
        </p:nvSpPr>
        <p:spPr/>
        <p:txBody>
          <a:bodyPr/>
          <a:lstStyle/>
          <a:p>
            <a:fld id="{38A635C9-4A98-4745-BD96-9D0E32025E69}" type="slidenum">
              <a:rPr lang="en-IN" smtClean="0"/>
              <a:t>9</a:t>
            </a:fld>
            <a:endParaRPr lang="en-IN" dirty="0"/>
          </a:p>
        </p:txBody>
      </p:sp>
      <p:sp>
        <p:nvSpPr>
          <p:cNvPr id="6" name="TextBox 5">
            <a:extLst>
              <a:ext uri="{FF2B5EF4-FFF2-40B4-BE49-F238E27FC236}">
                <a16:creationId xmlns:a16="http://schemas.microsoft.com/office/drawing/2014/main" id="{8F7896CF-4AD1-2461-1FF3-5A12FEA5CC60}"/>
              </a:ext>
            </a:extLst>
          </p:cNvPr>
          <p:cNvSpPr txBox="1"/>
          <p:nvPr/>
        </p:nvSpPr>
        <p:spPr>
          <a:xfrm>
            <a:off x="379004" y="4997853"/>
            <a:ext cx="6615550" cy="1200329"/>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rPr>
              <a:t>Key Insights:</a:t>
            </a:r>
            <a:endParaRPr lang="en-US"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FF0000"/>
                </a:solidFill>
                <a:latin typeface="Times New Roman" panose="02020603050405020304" pitchFamily="18" charset="0"/>
                <a:cs typeface="Times New Roman" panose="02020603050405020304" pitchFamily="18" charset="0"/>
              </a:rPr>
              <a:t>Tourism is unevenly distributed.</a:t>
            </a:r>
          </a:p>
          <a:p>
            <a:pPr marL="285750" indent="-285750">
              <a:buFont typeface="Arial" panose="020B0604020202020204" pitchFamily="34" charset="0"/>
              <a:buChar char="•"/>
            </a:pPr>
            <a:r>
              <a:rPr lang="en-US" dirty="0">
                <a:solidFill>
                  <a:srgbClr val="FF0000"/>
                </a:solidFill>
                <a:latin typeface="Times New Roman" panose="02020603050405020304" pitchFamily="18" charset="0"/>
                <a:cs typeface="Times New Roman" panose="02020603050405020304" pitchFamily="18" charset="0"/>
              </a:rPr>
              <a:t>South Indian and Western states lead.</a:t>
            </a:r>
          </a:p>
          <a:p>
            <a:pPr marL="285750" indent="-285750">
              <a:buFont typeface="Arial" panose="020B0604020202020204" pitchFamily="34" charset="0"/>
              <a:buChar char="•"/>
            </a:pPr>
            <a:r>
              <a:rPr lang="en-US" dirty="0">
                <a:solidFill>
                  <a:srgbClr val="FF0000"/>
                </a:solidFill>
                <a:latin typeface="Times New Roman" panose="02020603050405020304" pitchFamily="18" charset="0"/>
                <a:cs typeface="Times New Roman" panose="02020603050405020304" pitchFamily="18" charset="0"/>
              </a:rPr>
              <a:t>Data-driven strategies can improve underperforming regions.</a:t>
            </a:r>
          </a:p>
        </p:txBody>
      </p:sp>
      <p:graphicFrame>
        <p:nvGraphicFramePr>
          <p:cNvPr id="8" name="Table 7">
            <a:extLst>
              <a:ext uri="{FF2B5EF4-FFF2-40B4-BE49-F238E27FC236}">
                <a16:creationId xmlns:a16="http://schemas.microsoft.com/office/drawing/2014/main" id="{C77CF1FF-E768-DA0D-992D-257C1A463AB7}"/>
              </a:ext>
            </a:extLst>
          </p:cNvPr>
          <p:cNvGraphicFramePr>
            <a:graphicFrameLocks noGrp="1"/>
          </p:cNvGraphicFramePr>
          <p:nvPr>
            <p:extLst>
              <p:ext uri="{D42A27DB-BD31-4B8C-83A1-F6EECF244321}">
                <p14:modId xmlns:p14="http://schemas.microsoft.com/office/powerpoint/2010/main" val="4121631123"/>
              </p:ext>
            </p:extLst>
          </p:nvPr>
        </p:nvGraphicFramePr>
        <p:xfrm>
          <a:off x="416418" y="858253"/>
          <a:ext cx="7100596" cy="3926979"/>
        </p:xfrm>
        <a:graphic>
          <a:graphicData uri="http://schemas.openxmlformats.org/drawingml/2006/table">
            <a:tbl>
              <a:tblPr firstRow="1" bandRow="1">
                <a:tableStyleId>{5C22544A-7EE6-4342-B048-85BDC9FD1C3A}</a:tableStyleId>
              </a:tblPr>
              <a:tblGrid>
                <a:gridCol w="1461620">
                  <a:extLst>
                    <a:ext uri="{9D8B030D-6E8A-4147-A177-3AD203B41FA5}">
                      <a16:colId xmlns:a16="http://schemas.microsoft.com/office/drawing/2014/main" val="798171447"/>
                    </a:ext>
                  </a:extLst>
                </a:gridCol>
                <a:gridCol w="5638976">
                  <a:extLst>
                    <a:ext uri="{9D8B030D-6E8A-4147-A177-3AD203B41FA5}">
                      <a16:colId xmlns:a16="http://schemas.microsoft.com/office/drawing/2014/main" val="3198654753"/>
                    </a:ext>
                  </a:extLst>
                </a:gridCol>
              </a:tblGrid>
              <a:tr h="496827">
                <a:tc>
                  <a:txBody>
                    <a:bodyPr/>
                    <a:lstStyle/>
                    <a:p>
                      <a:pPr>
                        <a:buNone/>
                      </a:pPr>
                      <a:r>
                        <a:rPr lang="en-IN" dirty="0">
                          <a:latin typeface="Times New Roman" panose="02020603050405020304" pitchFamily="18" charset="0"/>
                          <a:cs typeface="Times New Roman" panose="02020603050405020304" pitchFamily="18" charset="0"/>
                        </a:rPr>
                        <a:t>Analysis</a:t>
                      </a:r>
                    </a:p>
                  </a:txBody>
                  <a:tcPr anchor="ctr"/>
                </a:tc>
                <a:tc>
                  <a:txBody>
                    <a:bodyPr/>
                    <a:lstStyle/>
                    <a:p>
                      <a:pPr>
                        <a:buNone/>
                      </a:pPr>
                      <a:r>
                        <a:rPr lang="en-IN" dirty="0">
                          <a:latin typeface="Times New Roman" panose="02020603050405020304" pitchFamily="18" charset="0"/>
                          <a:cs typeface="Times New Roman" panose="02020603050405020304" pitchFamily="18" charset="0"/>
                        </a:rPr>
                        <a:t>Findings</a:t>
                      </a:r>
                    </a:p>
                  </a:txBody>
                  <a:tcPr anchor="ctr"/>
                </a:tc>
                <a:extLst>
                  <a:ext uri="{0D108BD9-81ED-4DB2-BD59-A6C34878D82A}">
                    <a16:rowId xmlns:a16="http://schemas.microsoft.com/office/drawing/2014/main" val="1452003147"/>
                  </a:ext>
                </a:extLst>
              </a:tr>
              <a:tr h="857538">
                <a:tc>
                  <a:txBody>
                    <a:bodyPr/>
                    <a:lstStyle/>
                    <a:p>
                      <a:pPr>
                        <a:buNone/>
                      </a:pPr>
                      <a:r>
                        <a:rPr lang="en-IN" b="1" dirty="0"/>
                        <a:t>Regression</a:t>
                      </a:r>
                      <a:endParaRPr lang="en-IN" dirty="0"/>
                    </a:p>
                  </a:txBody>
                  <a:tcPr anchor="ctr"/>
                </a:tc>
                <a:tc>
                  <a:txBody>
                    <a:bodyPr/>
                    <a:lstStyle/>
                    <a:p>
                      <a:r>
                        <a:rPr lang="en-US" dirty="0"/>
                        <a:t>Positive linear growth trend (steady increase in visitors)</a:t>
                      </a:r>
                      <a:endParaRPr lang="en-IN" dirty="0"/>
                    </a:p>
                  </a:txBody>
                  <a:tcPr/>
                </a:tc>
                <a:extLst>
                  <a:ext uri="{0D108BD9-81ED-4DB2-BD59-A6C34878D82A}">
                    <a16:rowId xmlns:a16="http://schemas.microsoft.com/office/drawing/2014/main" val="2816167094"/>
                  </a:ext>
                </a:extLst>
              </a:tr>
              <a:tr h="857538">
                <a:tc>
                  <a:txBody>
                    <a:bodyPr/>
                    <a:lstStyle/>
                    <a:p>
                      <a:pPr>
                        <a:buNone/>
                      </a:pPr>
                      <a:r>
                        <a:rPr lang="en-IN" b="1" dirty="0"/>
                        <a:t>Clustering</a:t>
                      </a:r>
                      <a:endParaRPr lang="en-IN" dirty="0"/>
                    </a:p>
                  </a:txBody>
                  <a:tcPr anchor="ctr"/>
                </a:tc>
                <a:tc>
                  <a:txBody>
                    <a:bodyPr/>
                    <a:lstStyle/>
                    <a:p>
                      <a:pPr>
                        <a:buNone/>
                      </a:pPr>
                      <a:r>
                        <a:rPr lang="en-IN" dirty="0"/>
                        <a:t>3 clear performance zones identified</a:t>
                      </a:r>
                    </a:p>
                  </a:txBody>
                  <a:tcPr anchor="ctr"/>
                </a:tc>
                <a:extLst>
                  <a:ext uri="{0D108BD9-81ED-4DB2-BD59-A6C34878D82A}">
                    <a16:rowId xmlns:a16="http://schemas.microsoft.com/office/drawing/2014/main" val="4218829805"/>
                  </a:ext>
                </a:extLst>
              </a:tr>
              <a:tr h="857538">
                <a:tc>
                  <a:txBody>
                    <a:bodyPr/>
                    <a:lstStyle/>
                    <a:p>
                      <a:pPr>
                        <a:buNone/>
                      </a:pPr>
                      <a:r>
                        <a:rPr lang="en-IN" b="1" dirty="0"/>
                        <a:t>Classification</a:t>
                      </a:r>
                      <a:endParaRPr lang="en-IN" dirty="0"/>
                    </a:p>
                  </a:txBody>
                  <a:tcPr anchor="ctr"/>
                </a:tc>
                <a:tc>
                  <a:txBody>
                    <a:bodyPr/>
                    <a:lstStyle/>
                    <a:p>
                      <a:pPr>
                        <a:buNone/>
                      </a:pPr>
                      <a:r>
                        <a:rPr lang="en-IN" dirty="0"/>
                        <a:t>88% accurate state categorization</a:t>
                      </a:r>
                    </a:p>
                  </a:txBody>
                  <a:tcPr anchor="ctr"/>
                </a:tc>
                <a:extLst>
                  <a:ext uri="{0D108BD9-81ED-4DB2-BD59-A6C34878D82A}">
                    <a16:rowId xmlns:a16="http://schemas.microsoft.com/office/drawing/2014/main" val="2766530207"/>
                  </a:ext>
                </a:extLst>
              </a:tr>
              <a:tr h="857538">
                <a:tc>
                  <a:txBody>
                    <a:bodyPr/>
                    <a:lstStyle/>
                    <a:p>
                      <a:r>
                        <a:rPr lang="en-IN" dirty="0"/>
                        <a:t>EDA</a:t>
                      </a:r>
                    </a:p>
                  </a:txBody>
                  <a:tcPr/>
                </a:tc>
                <a:tc>
                  <a:txBody>
                    <a:bodyPr/>
                    <a:lstStyle/>
                    <a:p>
                      <a:pPr>
                        <a:buNone/>
                      </a:pPr>
                      <a:r>
                        <a:rPr lang="en-US" dirty="0"/>
                        <a:t>Domestic tourism dominates, with significant regional disparity</a:t>
                      </a:r>
                    </a:p>
                  </a:txBody>
                  <a:tcPr anchor="ctr"/>
                </a:tc>
                <a:extLst>
                  <a:ext uri="{0D108BD9-81ED-4DB2-BD59-A6C34878D82A}">
                    <a16:rowId xmlns:a16="http://schemas.microsoft.com/office/drawing/2014/main" val="2678846205"/>
                  </a:ext>
                </a:extLst>
              </a:tr>
            </a:tbl>
          </a:graphicData>
        </a:graphic>
      </p:graphicFrame>
      <p:pic>
        <p:nvPicPr>
          <p:cNvPr id="12" name="Picture 11" descr="A cellphone with a plane flying over it&#10;&#10;AI-generated content may be incorrect.">
            <a:extLst>
              <a:ext uri="{FF2B5EF4-FFF2-40B4-BE49-F238E27FC236}">
                <a16:creationId xmlns:a16="http://schemas.microsoft.com/office/drawing/2014/main" id="{A18574D6-36A5-54CA-0F5B-054C6CB4F6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7423" y="1734158"/>
            <a:ext cx="3678788" cy="2519718"/>
          </a:xfrm>
          <a:prstGeom prst="rect">
            <a:avLst/>
          </a:prstGeom>
        </p:spPr>
      </p:pic>
    </p:spTree>
    <p:extLst>
      <p:ext uri="{BB962C8B-B14F-4D97-AF65-F5344CB8AC3E}">
        <p14:creationId xmlns:p14="http://schemas.microsoft.com/office/powerpoint/2010/main" val="344348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1BE8-5BFF-A0A2-7B3D-AAAEF9B5D10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F9FCCE18-E2AA-3180-F009-A4F03CAF0745}"/>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2650DD2E-4551-B998-9313-04910E313372}"/>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C8F94AD4-5A75-29FE-34A4-3CBFBD57B23E}"/>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4DEA89EB-6E31-4F94-315B-3365EA202C8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086F94D9-5F15-C7FF-C1B4-766FB621A74E}"/>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09C59255-A68C-E981-6A05-E91F59E10A8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04FC04CF-7791-F70C-D620-5EDE5242F88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610B2414-EC0E-EDE9-DC3C-EAB8A578C2F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27884B7C-A5B7-3167-3C10-CC1F5FA068F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1ED7641B-767E-E32F-0AB1-9AF8E29D9104}"/>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9B0EFD20-4B2B-B4F9-7E29-DF1E63C95C0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FFF0F107-8E86-2E39-2C4A-20B3C6A4F73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FEDBEDE5-BB0F-7A2F-7B38-FEE200D104E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1E0804E0-75C5-8D63-CE0E-29CAE59E2D1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D0F2CB6C-61A1-9134-AEE9-306F24D07995}"/>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16C19E6C-AD97-DF19-419C-6C454D3B997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8569A8FF-7A90-73B1-5749-817DBA21157F}"/>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A3960F97-A3F5-3215-85BB-91C168840617}"/>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D000860C-7595-1F56-1092-C085D74D92E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9DEFE090-B07B-99A8-FFE0-8C8BC1A2E4F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17B53541-7197-3F8D-2F85-E119DB66E16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B9423E32-0860-55A5-7790-764B517DD70A}"/>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1DD93AC3-D6DA-68E6-DC94-5C2DC889837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6D83070A-6647-505E-C355-0AA93A474848}"/>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FECF66E9-4ED7-6F16-4A26-38E7235F2B4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9171CD4-7136-8617-E4C8-EAD26BC671BF}"/>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FA49C14F-6C2C-F7CD-A814-00C2ACC04A6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3A48598D-6588-3D54-078A-354049D6301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9374015-EED4-889A-C8B0-8A701299481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014B0FC6-58E1-8428-7D76-D0AC520F364D}"/>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05C17581-AB9D-48E7-5A85-09E70C7233DC}"/>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7424618D-7D21-1EDC-97C3-EDAC7B2ABAB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57D12444-530C-4F90-D665-A0B5F84D75CD}"/>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07D1685E-6E0C-BFBC-449A-77B5C3DF5283}"/>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5DDCB36F-8D38-C8C0-4795-EB7AED9850F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9F84AA99-CBB8-137E-41A1-877F9F63DF71}"/>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998E2BF2-7A1E-658E-88D4-611CF374B7C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FCD99F91-66B3-95B8-EA7F-9B7C334B7C60}"/>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62D5F7E-DD6B-45B3-E5D7-1F80E8BDF8EE}"/>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298255BA-9EE4-BF3A-3E02-05E533175328}"/>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2E54BE70-35D4-43B6-07DA-1977D68F238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51D49A8A-BFD9-A374-C273-FB537029ED76}"/>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7F088CFF-8010-BDFB-7C62-5A93D2A0E2BD}"/>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20C13E1F-6E7A-7700-B2B4-32448F7AFB0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9CC4E906-6272-B257-7556-73D8CD2E46D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0AE293EB-BCFF-4025-6E27-E3B0304FD2E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1D83602D-4BBD-E72D-4333-77E85A33150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591C6657-A053-0E5A-6393-2AC4488288D4}"/>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27C49030-CCA5-1067-EC86-77C40A556B66}"/>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40E38CA6-521C-DA4D-9551-7044914E61D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662F7265-9480-DD4A-543D-707EDC4183B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D0CB55BD-862B-F24C-C065-09307B1F1B1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72F433BC-B650-F276-0AFB-FAA984B8C8F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89161940-ECA3-6205-A1DE-9960A45D1E9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C8CF5F5C-B8A3-DE64-E187-9AFA6E487F7B}"/>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CC29DFB7-4581-9796-4ADC-F529CD4ADB8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2303CD0F-2332-919B-BA85-C8F5B93DD4E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0AD221FB-59B5-6D97-B753-E79A944E840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A46E367-5C79-661B-B01E-C92BA239BD1C}"/>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D40E43F4-1311-13C3-8934-84063AAECBBF}"/>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CC9625E2-C852-37F3-7935-989077F88FE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D548D081-B689-69BE-6F54-91AE33E33D93}"/>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E486335E-0BD5-D9F5-C993-2A4FA78EA96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51E69AE1-9826-48B4-FD6C-F6B8EC8A6F4F}"/>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73DCC2C4-67B6-8791-805C-19515FFC152F}"/>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CB5822C6-6C59-594B-23D1-A220290A494D}"/>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B6293D9E-CBB3-7191-A3E0-EA5EF5DBEE9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1A6990E7-E367-AFD8-6730-1775DDEF0A2A}"/>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3FC7F9AF-72F3-03C4-B033-9F5452A0B179}"/>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07BFE486-BA00-1212-08D7-786B138238C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C24B58E6-A954-AEE1-FE33-F2F8E04729B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F709B6C-831A-D027-6AF4-B3D7058673D9}"/>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8E63BE94-3E92-5493-F372-7AB6E2C8CC7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F6806A98-5B2B-656A-0A71-954F4ED7EFA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BF8D6E3A-E637-627F-18AF-D9F801C27B09}"/>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5" name="Rectangle 354">
            <a:extLst>
              <a:ext uri="{FF2B5EF4-FFF2-40B4-BE49-F238E27FC236}">
                <a16:creationId xmlns:a16="http://schemas.microsoft.com/office/drawing/2014/main" id="{12E10EB8-E8A9-02A7-3F0A-72B9B0F2021C}"/>
              </a:ext>
            </a:extLst>
          </p:cNvPr>
          <p:cNvSpPr/>
          <p:nvPr/>
        </p:nvSpPr>
        <p:spPr>
          <a:xfrm>
            <a:off x="4395190" y="94232"/>
            <a:ext cx="5513920" cy="4032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dirty="0">
                <a:solidFill>
                  <a:schemeClr val="accent5">
                    <a:lumMod val="50000"/>
                  </a:schemeClr>
                </a:solidFill>
                <a:latin typeface="Times New Roman" panose="02020603050405020304" pitchFamily="18" charset="0"/>
                <a:cs typeface="Times New Roman" panose="02020603050405020304" pitchFamily="18" charset="0"/>
              </a:rPr>
              <a:t>Conclusion &amp; Future Scope</a:t>
            </a:r>
            <a:endParaRPr lang="en-IN" sz="3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58" name="Rectangle 357">
            <a:extLst>
              <a:ext uri="{FF2B5EF4-FFF2-40B4-BE49-F238E27FC236}">
                <a16:creationId xmlns:a16="http://schemas.microsoft.com/office/drawing/2014/main" id="{F003A3AB-2740-5C8E-4A0C-A3AB199838C2}"/>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DA96587-5FB1-8A3C-E650-0D064E6E5D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4E3534BB-0665-BECF-0BC8-6200DCA2BAF4}"/>
              </a:ext>
            </a:extLst>
          </p:cNvPr>
          <p:cNvSpPr>
            <a:spLocks noGrp="1"/>
          </p:cNvSpPr>
          <p:nvPr>
            <p:ph type="sldNum" sz="quarter" idx="12"/>
          </p:nvPr>
        </p:nvSpPr>
        <p:spPr/>
        <p:txBody>
          <a:bodyPr/>
          <a:lstStyle/>
          <a:p>
            <a:fld id="{38A635C9-4A98-4745-BD96-9D0E32025E69}" type="slidenum">
              <a:rPr lang="en-IN" smtClean="0"/>
              <a:t>10</a:t>
            </a:fld>
            <a:endParaRPr lang="en-IN" dirty="0"/>
          </a:p>
        </p:txBody>
      </p:sp>
      <p:sp>
        <p:nvSpPr>
          <p:cNvPr id="6" name="TextBox 5">
            <a:extLst>
              <a:ext uri="{FF2B5EF4-FFF2-40B4-BE49-F238E27FC236}">
                <a16:creationId xmlns:a16="http://schemas.microsoft.com/office/drawing/2014/main" id="{D11F3443-E563-D336-C17B-1A15101AFE8E}"/>
              </a:ext>
            </a:extLst>
          </p:cNvPr>
          <p:cNvSpPr txBox="1"/>
          <p:nvPr/>
        </p:nvSpPr>
        <p:spPr>
          <a:xfrm>
            <a:off x="6817459" y="1225228"/>
            <a:ext cx="5374540"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Tourism in India has shown consistent growth over the years.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analysis identifies strengths and weaknesses across states.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 helps predict and classify tourism performance effectively.</a:t>
            </a:r>
          </a:p>
          <a:p>
            <a:r>
              <a:rPr lang="en-US" b="1" dirty="0">
                <a:latin typeface="Times New Roman" panose="02020603050405020304" pitchFamily="18" charset="0"/>
                <a:cs typeface="Times New Roman" panose="02020603050405020304" pitchFamily="18" charset="0"/>
              </a:rPr>
              <a:t>Future Scope: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Deep Learning models</a:t>
            </a:r>
            <a:r>
              <a:rPr lang="en-US" dirty="0">
                <a:latin typeface="Times New Roman" panose="02020603050405020304" pitchFamily="18" charset="0"/>
                <a:cs typeface="Times New Roman" panose="02020603050405020304" pitchFamily="18" charset="0"/>
              </a:rPr>
              <a:t> for time-series forecasting.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a:t>
            </a:r>
            <a:r>
              <a:rPr lang="en-US" b="1" dirty="0">
                <a:latin typeface="Times New Roman" panose="02020603050405020304" pitchFamily="18" charset="0"/>
                <a:cs typeface="Times New Roman" panose="02020603050405020304" pitchFamily="18" charset="0"/>
              </a:rPr>
              <a:t>real-time tourism sentiment analysis</a:t>
            </a:r>
            <a:r>
              <a:rPr lang="en-US" dirty="0">
                <a:latin typeface="Times New Roman" panose="02020603050405020304" pitchFamily="18" charset="0"/>
                <a:cs typeface="Times New Roman" panose="02020603050405020304" pitchFamily="18" charset="0"/>
              </a:rPr>
              <a:t> using social media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t>
            </a:r>
            <a:r>
              <a:rPr lang="en-US" b="1" dirty="0">
                <a:latin typeface="Times New Roman" panose="02020603050405020304" pitchFamily="18" charset="0"/>
                <a:cs typeface="Times New Roman" panose="02020603050405020304" pitchFamily="18" charset="0"/>
              </a:rPr>
              <a:t>interactive dashboards</a:t>
            </a:r>
            <a:r>
              <a:rPr lang="en-US" dirty="0">
                <a:latin typeface="Times New Roman" panose="02020603050405020304" pitchFamily="18" charset="0"/>
                <a:cs typeface="Times New Roman" panose="02020603050405020304" pitchFamily="18" charset="0"/>
              </a:rPr>
              <a:t> for tourism authorities.</a:t>
            </a:r>
          </a:p>
        </p:txBody>
      </p:sp>
      <p:sp>
        <p:nvSpPr>
          <p:cNvPr id="7" name="TextBox 6">
            <a:extLst>
              <a:ext uri="{FF2B5EF4-FFF2-40B4-BE49-F238E27FC236}">
                <a16:creationId xmlns:a16="http://schemas.microsoft.com/office/drawing/2014/main" id="{A0204A18-FD5A-30CD-74C0-D1725DDCB9B1}"/>
              </a:ext>
            </a:extLst>
          </p:cNvPr>
          <p:cNvSpPr txBox="1"/>
          <p:nvPr/>
        </p:nvSpPr>
        <p:spPr>
          <a:xfrm>
            <a:off x="1064464" y="5775143"/>
            <a:ext cx="10302859" cy="369332"/>
          </a:xfrm>
          <a:prstGeom prst="rect">
            <a:avLst/>
          </a:prstGeom>
          <a:noFill/>
        </p:spPr>
        <p:txBody>
          <a:bodyPr wrap="square">
            <a:spAutoFit/>
          </a:bodyPr>
          <a:lstStyle/>
          <a:p>
            <a:r>
              <a:rPr lang="en-US" i="1" dirty="0">
                <a:solidFill>
                  <a:srgbClr val="FF0000"/>
                </a:solidFill>
                <a:latin typeface="Times New Roman" panose="02020603050405020304" pitchFamily="18" charset="0"/>
                <a:cs typeface="Times New Roman" panose="02020603050405020304" pitchFamily="18" charset="0"/>
              </a:rPr>
              <a:t>“Data science transforms raw numbers into meaningful strategies for India’s tourism development.”</a:t>
            </a:r>
            <a:endParaRPr lang="en-IN" i="1" dirty="0">
              <a:solidFill>
                <a:srgbClr val="FF0000"/>
              </a:solidFill>
              <a:latin typeface="Times New Roman" panose="02020603050405020304" pitchFamily="18" charset="0"/>
              <a:cs typeface="Times New Roman" panose="02020603050405020304" pitchFamily="18" charset="0"/>
            </a:endParaRPr>
          </a:p>
        </p:txBody>
      </p:sp>
      <p:pic>
        <p:nvPicPr>
          <p:cNvPr id="8194" name="Picture 2" descr="How Big Data Technologies Can Improve Tourism">
            <a:extLst>
              <a:ext uri="{FF2B5EF4-FFF2-40B4-BE49-F238E27FC236}">
                <a16:creationId xmlns:a16="http://schemas.microsoft.com/office/drawing/2014/main" id="{618A8147-B4BA-4064-8DE7-3FEF43BA6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63" y="1363488"/>
            <a:ext cx="5563122" cy="3525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211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EEED-4281-CE8F-B1A3-8F864F639A6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122D1F2D-AE2E-64E0-C631-C26E8596509A}"/>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BFDB1F26-A7E4-CA1C-F16D-201BB41E7AA4}"/>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BCF2A91A-84BE-4DDF-F5BA-121839B5C09A}"/>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A062A28-BCF3-5A93-7143-7E8888712F4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0094BC78-7972-A7A6-AECD-F67CD498E2D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3849CB82-C0C5-1AB0-E477-DF0C5813B3EA}"/>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24538CE4-8B23-8674-9530-99519449058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F89F399-F2A2-5DDA-7976-6828E24D57A6}"/>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9070005D-654F-CBA4-02B2-527EEB778FB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E7C45958-5FC1-D564-1345-1BF0620191E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8E61D483-7AFE-6F94-8014-064D58FB2DC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C249FA7F-8093-C565-29DD-D8075633008A}"/>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651C2799-A101-8BFE-6BCD-D266A43FA1AD}"/>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6368F1C2-EB02-33DF-3FEE-A7A0BC3032CA}"/>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D82F9700-D759-DB80-B165-944DB3F65D7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94183B2E-FD7E-06F8-F9DC-2D9FF486952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D9B38ADE-7A5A-DF66-25AB-F58B9EE47E7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34F857A8-5C24-B7BA-1BB9-FD858B0DC65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541B536A-7102-0492-CA79-187B583DCFBE}"/>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B5B166BB-5408-4515-4FB9-42EF76ABC27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F08CEBC3-42AF-5EFD-CAB3-B473653E69AE}"/>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6F5AB4A3-D051-3BFF-8909-20682A9B5ACB}"/>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17F2B9D6-91CE-0951-C53C-38AB1430D1C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BCAB7D43-DC13-1D66-53B2-FA11988D33B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78E4DC4A-0794-A043-F2E3-FDA430A05E3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20C71EF-AC27-A08E-8E22-AE5CAADA040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663F8881-ECEF-B326-9A35-09861B3246D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FA78EC8-6C3D-9B28-6256-5F07C311FE9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7F1D08D4-6EA3-96D9-D8F1-DEC2F9025949}"/>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4A06DD0C-4E22-41D5-B6E1-D38CC2AC7E7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701D9112-069D-EBF2-42C2-D239986EF1CF}"/>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636D54CC-ACD9-2400-648D-40B8A9232C0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5F5DF02B-E039-DAD5-1CD7-55DC1D338AF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491239A2-0AA9-AA62-4EDA-AB73966BF0BD}"/>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60C758E3-ECE7-DC60-8BEB-396321D1780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EB01E75-91F3-6748-A736-C5A7E0301C2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B3223328-39E8-D5AB-4001-BF6E33234005}"/>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D950553E-BF84-2437-B5CD-BEF284FCA3F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502F59A-5031-65C4-60BA-F98E3998F27B}"/>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123EFC2E-DB6C-55FA-47B2-8F1D9CFBBE4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4840D36B-D7F9-4201-64ED-62AFE0CE83E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B6F39159-332A-45F1-056D-10DC91F2660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FB084A8D-7F75-0724-788A-6DAA6FCCD338}"/>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6567519D-EB8C-7A6D-50C5-2DE2D12CA848}"/>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5EF5C945-9286-7204-2DED-4C34BCD919B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E8655099-EA0F-D3A3-915D-0E329418250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46782095-1121-A8F3-75A6-63AAF88AA9F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90BC1965-167A-E665-53F7-B7480721FF5B}"/>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79173DE4-4C4E-AE04-A6F7-23DA1C67DB7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A2A8853C-F617-8C1B-C45F-10A8F07DFAA3}"/>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2CFFF564-3A61-45F7-2CEA-DEBEDFFA9C8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7BCF38D0-F5FD-C1DE-2333-5A7EC8436566}"/>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FAC0B7E0-0680-5847-0E44-FA5803E4A0D2}"/>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66C08B70-6431-A789-FE27-384690AE543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BDD25E44-FE98-8805-92A9-D3B02419A203}"/>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908C84FD-3E49-534C-CC1C-9A656C01289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D8BB4F61-BCD5-9EAF-C782-919EA4F9349F}"/>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71CC8A02-54C1-0A55-6205-005E115E6B6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6EAD746F-57B8-1E85-EBC7-79A68102534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7E406B9D-BFD1-1935-B2B7-E9ED3371CC37}"/>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CFAC703B-4B8C-6EC6-38DA-8D0CC3EBFAC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AAE99ECF-C36B-F808-9199-B20DCDB6CAE3}"/>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DA9F905F-6C7D-24A2-F5DE-68ED2D2CA78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12B3934-B50B-EDB9-3CA4-A593D64F803E}"/>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F95BED5D-698B-D494-3240-A2570E17815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0CEEA36-F1E6-2F63-77B7-51AA28CA6D7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A8DA9FFF-CE73-ABB1-06A3-CEFCB26C0F0C}"/>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A023CFD5-076A-3BEF-F8A3-B02E66B0D48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20BD2918-8FEE-B1CB-E69D-9BCF2A600276}"/>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69AB077D-51BC-C313-4E1A-41A1B4A9A7F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2B0AE559-C1CE-714F-0617-F20CECDF50C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975A6357-C215-2810-5FA2-6BDDC2E490E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7256A797-8622-1E4A-F2F6-4A6B9FE47B38}"/>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5667DE0A-0E25-8617-2CF7-DBC50DBA141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512EECB9-9807-E907-9BD3-46BEF6397364}"/>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endParaRPr lang="ko-KR" altLang="en-US" sz="3600" dirty="0">
              <a:solidFill>
                <a:srgbClr val="000099"/>
              </a:solidFill>
              <a:latin typeface="Times New Roman" pitchFamily="18" charset="0"/>
              <a:cs typeface="Times New Roman" pitchFamily="18" charset="0"/>
            </a:endParaRPr>
          </a:p>
        </p:txBody>
      </p:sp>
      <p:sp>
        <p:nvSpPr>
          <p:cNvPr id="358" name="Rectangle 357">
            <a:extLst>
              <a:ext uri="{FF2B5EF4-FFF2-40B4-BE49-F238E27FC236}">
                <a16:creationId xmlns:a16="http://schemas.microsoft.com/office/drawing/2014/main" id="{DF721262-CB3D-7FAD-881B-036427F7FE22}"/>
              </a:ext>
            </a:extLst>
          </p:cNvPr>
          <p:cNvSpPr/>
          <p:nvPr/>
        </p:nvSpPr>
        <p:spPr>
          <a:xfrm>
            <a:off x="832619" y="2041403"/>
            <a:ext cx="3610596" cy="952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accent2">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1200B2F-6AF6-812A-26EE-24D4E3A00D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8688" y="34941"/>
            <a:ext cx="1343005" cy="575049"/>
          </a:xfrm>
          <a:prstGeom prst="rect">
            <a:avLst/>
          </a:prstGeom>
        </p:spPr>
      </p:pic>
      <p:sp>
        <p:nvSpPr>
          <p:cNvPr id="5" name="Slide Number Placeholder 4">
            <a:extLst>
              <a:ext uri="{FF2B5EF4-FFF2-40B4-BE49-F238E27FC236}">
                <a16:creationId xmlns:a16="http://schemas.microsoft.com/office/drawing/2014/main" id="{5A65626E-1E7A-45FB-898A-CD947BE83DF1}"/>
              </a:ext>
            </a:extLst>
          </p:cNvPr>
          <p:cNvSpPr>
            <a:spLocks noGrp="1"/>
          </p:cNvSpPr>
          <p:nvPr>
            <p:ph type="sldNum" sz="quarter" idx="12"/>
          </p:nvPr>
        </p:nvSpPr>
        <p:spPr/>
        <p:txBody>
          <a:bodyPr/>
          <a:lstStyle/>
          <a:p>
            <a:fld id="{38A635C9-4A98-4745-BD96-9D0E32025E69}" type="slidenum">
              <a:rPr lang="en-IN" smtClean="0"/>
              <a:t>11</a:t>
            </a:fld>
            <a:endParaRPr lang="en-IN" dirty="0"/>
          </a:p>
        </p:txBody>
      </p:sp>
      <p:sp>
        <p:nvSpPr>
          <p:cNvPr id="6" name="TextBox 5">
            <a:extLst>
              <a:ext uri="{FF2B5EF4-FFF2-40B4-BE49-F238E27FC236}">
                <a16:creationId xmlns:a16="http://schemas.microsoft.com/office/drawing/2014/main" id="{5C8E7586-BD14-34D4-EE7B-5A3FEA46B3E9}"/>
              </a:ext>
            </a:extLst>
          </p:cNvPr>
          <p:cNvSpPr txBox="1"/>
          <p:nvPr/>
        </p:nvSpPr>
        <p:spPr>
          <a:xfrm>
            <a:off x="4099673" y="2671473"/>
            <a:ext cx="5184041" cy="1015663"/>
          </a:xfrm>
          <a:prstGeom prst="rect">
            <a:avLst/>
          </a:prstGeom>
          <a:noFill/>
        </p:spPr>
        <p:txBody>
          <a:bodyPr wrap="square">
            <a:spAutoFit/>
          </a:bodyPr>
          <a:lstStyle/>
          <a:p>
            <a:r>
              <a:rPr lang="en-US" sz="60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1072659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4935</TotalTime>
  <Words>695</Words>
  <Application>Microsoft Office PowerPoint</Application>
  <PresentationFormat>Widescreen</PresentationFormat>
  <Paragraphs>110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Raghav Uparkar</cp:lastModifiedBy>
  <cp:revision>122</cp:revision>
  <dcterms:created xsi:type="dcterms:W3CDTF">2024-06-03T04:50:38Z</dcterms:created>
  <dcterms:modified xsi:type="dcterms:W3CDTF">2025-11-01T21:49:58Z</dcterms:modified>
</cp:coreProperties>
</file>